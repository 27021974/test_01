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389120"/>
            <a:ext cx="12188952" cy="246888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4343400"/>
            <a:ext cx="11274552" cy="7315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80160"/>
            <a:ext cx="10972800" cy="1280160"/>
          </a:xfrm>
          <a:prstGeom prst="rect">
            <a:avLst/>
          </a:prstGeom>
          <a:noFill/>
        </p:spPr>
        <p:txBody>
          <a:bodyPr wrap="square">
            <a:spAutoFit/>
          </a:bodyPr>
          <a:lstStyle/>
          <a:p>
            <a:pPr algn="l"/>
            <a:r>
              <a:rPr sz="4400" b="1" i="0">
                <a:solidFill>
                  <a:srgbClr val="FFFFFF"/>
                </a:solidFill>
              </a:rPr>
              <a:t>Selbstorganisation in Scrum</a:t>
            </a:r>
          </a:p>
        </p:txBody>
      </p:sp>
      <p:sp>
        <p:nvSpPr>
          <p:cNvPr id="6" name="TextBox 5"/>
          <p:cNvSpPr txBox="1"/>
          <p:nvPr/>
        </p:nvSpPr>
        <p:spPr>
          <a:xfrm>
            <a:off x="548640" y="2606040"/>
            <a:ext cx="10972800" cy="731520"/>
          </a:xfrm>
          <a:prstGeom prst="rect">
            <a:avLst/>
          </a:prstGeom>
          <a:noFill/>
        </p:spPr>
        <p:txBody>
          <a:bodyPr wrap="square">
            <a:spAutoFit/>
          </a:bodyPr>
          <a:lstStyle/>
          <a:p>
            <a:pPr algn="l"/>
            <a:r>
              <a:rPr sz="3200" b="0" i="0">
                <a:solidFill>
                  <a:srgbClr val="FFC000"/>
                </a:solidFill>
              </a:rPr>
              <a:t>Was bedeutet das wirklich?</a:t>
            </a:r>
          </a:p>
        </p:txBody>
      </p:sp>
      <p:sp>
        <p:nvSpPr>
          <p:cNvPr id="7" name="TextBox 6"/>
          <p:cNvSpPr txBox="1"/>
          <p:nvPr/>
        </p:nvSpPr>
        <p:spPr>
          <a:xfrm>
            <a:off x="548640" y="4617720"/>
            <a:ext cx="10972800" cy="640080"/>
          </a:xfrm>
          <a:prstGeom prst="rect">
            <a:avLst/>
          </a:prstGeom>
          <a:noFill/>
        </p:spPr>
        <p:txBody>
          <a:bodyPr wrap="square">
            <a:spAutoFit/>
          </a:bodyPr>
          <a:lstStyle/>
          <a:p>
            <a:pPr algn="l"/>
            <a:r>
              <a:rPr sz="2000" b="0" i="0">
                <a:solidFill>
                  <a:srgbClr val="FFFFFF"/>
                </a:solidFill>
              </a:rPr>
              <a:t>Klarheit, Grenzen und Verantwortung im skalierten Umfeld</a:t>
            </a:r>
          </a:p>
        </p:txBody>
      </p:sp>
      <p:sp>
        <p:nvSpPr>
          <p:cNvPr id="8" name="TextBox 7"/>
          <p:cNvSpPr txBox="1"/>
          <p:nvPr/>
        </p:nvSpPr>
        <p:spPr>
          <a:xfrm>
            <a:off x="548640" y="5486400"/>
            <a:ext cx="10972800" cy="1188720"/>
          </a:xfrm>
          <a:prstGeom prst="rect">
            <a:avLst/>
          </a:prstGeom>
          <a:noFill/>
        </p:spPr>
        <p:txBody>
          <a:bodyPr wrap="square">
            <a:spAutoFit/>
          </a:bodyPr>
          <a:lstStyle/>
          <a:p>
            <a:pPr algn="l"/>
            <a:r>
              <a:rPr sz="1200" b="0" i="1">
                <a:solidFill>
                  <a:srgbClr val="FFFFFF"/>
                </a:solidFill>
              </a:rPr>
              <a:t>Sprechertext: Selbstorganisation ist ein zentraler Begriff in Scrum. Gleichzeitig wird er oft missverstanden. Heute zeige ich, was Selbstorganisation wirklich bedeutet, was sie nicht bedeutet und warum sie im skalierten Umfeld klare Leitplanken braucht.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720"/>
            <a:ext cx="12188952" cy="6400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82880"/>
            <a:ext cx="11430000" cy="868680"/>
          </a:xfrm>
          <a:prstGeom prst="rect">
            <a:avLst/>
          </a:prstGeom>
          <a:noFill/>
        </p:spPr>
        <p:txBody>
          <a:bodyPr wrap="square">
            <a:spAutoFit/>
          </a:bodyPr>
          <a:lstStyle/>
          <a:p>
            <a:pPr algn="l"/>
            <a:r>
              <a:rPr sz="2800" b="1" i="0">
                <a:solidFill>
                  <a:srgbClr val="FFFFFF"/>
                </a:solidFill>
              </a:rPr>
              <a:t>Das haeufige Missverstaendnis</a:t>
            </a:r>
          </a:p>
        </p:txBody>
      </p:sp>
      <p:sp>
        <p:nvSpPr>
          <p:cNvPr id="6" name="Rectangle 5"/>
          <p:cNvSpPr/>
          <p:nvPr/>
        </p:nvSpPr>
        <p:spPr>
          <a:xfrm>
            <a:off x="457200" y="1463040"/>
            <a:ext cx="5303520" cy="1280160"/>
          </a:xfrm>
          <a:prstGeom prst="rect">
            <a:avLst/>
          </a:prstGeom>
          <a:solidFill>
            <a:srgbClr val="FFEBEB"/>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08760"/>
            <a:ext cx="4937760" cy="411480"/>
          </a:xfrm>
          <a:prstGeom prst="rect">
            <a:avLst/>
          </a:prstGeom>
          <a:noFill/>
        </p:spPr>
        <p:txBody>
          <a:bodyPr wrap="square">
            <a:spAutoFit/>
          </a:bodyPr>
          <a:lstStyle/>
          <a:p>
            <a:pPr algn="l"/>
            <a:r>
              <a:rPr sz="1600" b="1" i="0">
                <a:solidFill>
                  <a:srgbClr val="C00000"/>
                </a:solidFill>
              </a:rPr>
              <a:t>X  Mythos</a:t>
            </a:r>
          </a:p>
        </p:txBody>
      </p:sp>
      <p:sp>
        <p:nvSpPr>
          <p:cNvPr id="8" name="TextBox 7"/>
          <p:cNvSpPr txBox="1"/>
          <p:nvPr/>
        </p:nvSpPr>
        <p:spPr>
          <a:xfrm>
            <a:off x="640080" y="1874519"/>
            <a:ext cx="4937760" cy="731520"/>
          </a:xfrm>
          <a:prstGeom prst="rect">
            <a:avLst/>
          </a:prstGeom>
          <a:noFill/>
        </p:spPr>
        <p:txBody>
          <a:bodyPr wrap="square">
            <a:spAutoFit/>
          </a:bodyPr>
          <a:lstStyle/>
          <a:p>
            <a:pPr algn="l"/>
            <a:r>
              <a:rPr sz="1800" b="0" i="0">
                <a:solidFill>
                  <a:srgbClr val="C00000"/>
                </a:solidFill>
              </a:rPr>
              <a:t>Selbstorganisation = alle entscheiden alles</a:t>
            </a:r>
          </a:p>
        </p:txBody>
      </p:sp>
      <p:sp>
        <p:nvSpPr>
          <p:cNvPr id="9" name="Rectangle 8"/>
          <p:cNvSpPr/>
          <p:nvPr/>
        </p:nvSpPr>
        <p:spPr>
          <a:xfrm>
            <a:off x="6400800" y="1463040"/>
            <a:ext cx="5303520" cy="1280160"/>
          </a:xfrm>
          <a:prstGeom prst="rect">
            <a:avLst/>
          </a:prstGeom>
          <a:solidFill>
            <a:srgbClr val="E7F3E7"/>
          </a:solidFill>
          <a:ln>
            <a:solidFill>
              <a:srgbClr val="3886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508760"/>
            <a:ext cx="4937760" cy="411480"/>
          </a:xfrm>
          <a:prstGeom prst="rect">
            <a:avLst/>
          </a:prstGeom>
          <a:noFill/>
        </p:spPr>
        <p:txBody>
          <a:bodyPr wrap="square">
            <a:spAutoFit/>
          </a:bodyPr>
          <a:lstStyle/>
          <a:p>
            <a:pPr algn="l"/>
            <a:r>
              <a:rPr sz="1600" b="1" i="0">
                <a:solidFill>
                  <a:srgbClr val="388638"/>
                </a:solidFill>
              </a:rPr>
              <a:t>OK  Realitaet</a:t>
            </a:r>
          </a:p>
        </p:txBody>
      </p:sp>
      <p:sp>
        <p:nvSpPr>
          <p:cNvPr id="11" name="TextBox 10"/>
          <p:cNvSpPr txBox="1"/>
          <p:nvPr/>
        </p:nvSpPr>
        <p:spPr>
          <a:xfrm>
            <a:off x="6583680" y="1874519"/>
            <a:ext cx="4937760" cy="731520"/>
          </a:xfrm>
          <a:prstGeom prst="rect">
            <a:avLst/>
          </a:prstGeom>
          <a:noFill/>
        </p:spPr>
        <p:txBody>
          <a:bodyPr wrap="square">
            <a:spAutoFit/>
          </a:bodyPr>
          <a:lstStyle/>
          <a:p>
            <a:pPr algn="l"/>
            <a:r>
              <a:rPr sz="1800" b="0" i="0">
                <a:solidFill>
                  <a:srgbClr val="388638"/>
                </a:solidFill>
              </a:rPr>
              <a:t>Das Team entscheidet WIE - nicht was oder wohin</a:t>
            </a:r>
          </a:p>
        </p:txBody>
      </p:sp>
      <p:sp>
        <p:nvSpPr>
          <p:cNvPr id="12" name="TextBox 11"/>
          <p:cNvSpPr txBox="1"/>
          <p:nvPr/>
        </p:nvSpPr>
        <p:spPr>
          <a:xfrm>
            <a:off x="548640" y="3017520"/>
            <a:ext cx="10972800" cy="502920"/>
          </a:xfrm>
          <a:prstGeom prst="rect">
            <a:avLst/>
          </a:prstGeom>
          <a:noFill/>
        </p:spPr>
        <p:txBody>
          <a:bodyPr wrap="square">
            <a:spAutoFit/>
          </a:bodyPr>
          <a:lstStyle/>
          <a:p>
            <a:pPr algn="l"/>
            <a:r>
              <a:rPr sz="1900" b="0" i="0">
                <a:solidFill>
                  <a:srgbClr val="404040"/>
                </a:solidFill>
              </a:rPr>
              <a:t>* Haeufige Annahme: jede Person darf ueberall mitentscheiden</a:t>
            </a:r>
          </a:p>
        </p:txBody>
      </p:sp>
      <p:sp>
        <p:nvSpPr>
          <p:cNvPr id="13" name="TextBox 12"/>
          <p:cNvSpPr txBox="1"/>
          <p:nvPr/>
        </p:nvSpPr>
        <p:spPr>
          <a:xfrm>
            <a:off x="548640" y="3547872"/>
            <a:ext cx="10972800" cy="502920"/>
          </a:xfrm>
          <a:prstGeom prst="rect">
            <a:avLst/>
          </a:prstGeom>
          <a:noFill/>
        </p:spPr>
        <p:txBody>
          <a:bodyPr wrap="square">
            <a:spAutoFit/>
          </a:bodyPr>
          <a:lstStyle/>
          <a:p>
            <a:pPr algn="l"/>
            <a:r>
              <a:rPr sz="1900" b="0" i="0">
                <a:solidFill>
                  <a:srgbClr val="404040"/>
                </a:solidFill>
              </a:rPr>
              <a:t>* Folge: Frustration, Unklarheit, Ineffizienz</a:t>
            </a:r>
          </a:p>
        </p:txBody>
      </p:sp>
      <p:sp>
        <p:nvSpPr>
          <p:cNvPr id="14" name="TextBox 13"/>
          <p:cNvSpPr txBox="1"/>
          <p:nvPr/>
        </p:nvSpPr>
        <p:spPr>
          <a:xfrm>
            <a:off x="548640" y="4078224"/>
            <a:ext cx="10972800" cy="502920"/>
          </a:xfrm>
          <a:prstGeom prst="rect">
            <a:avLst/>
          </a:prstGeom>
          <a:noFill/>
        </p:spPr>
        <p:txBody>
          <a:bodyPr wrap="square">
            <a:spAutoFit/>
          </a:bodyPr>
          <a:lstStyle/>
          <a:p>
            <a:pPr algn="l"/>
            <a:r>
              <a:rPr sz="1900" b="1" i="0">
                <a:solidFill>
                  <a:srgbClr val="404040"/>
                </a:solidFill>
              </a:rPr>
              <a:t>* Leitfrage: Was bedeutet Selbstorganisation wirklich?</a:t>
            </a:r>
          </a:p>
        </p:txBody>
      </p:sp>
      <p:sp>
        <p:nvSpPr>
          <p:cNvPr id="15" name="TextBox 14"/>
          <p:cNvSpPr txBox="1"/>
          <p:nvPr/>
        </p:nvSpPr>
        <p:spPr>
          <a:xfrm>
            <a:off x="365760" y="5943600"/>
            <a:ext cx="11430000" cy="822960"/>
          </a:xfrm>
          <a:prstGeom prst="rect">
            <a:avLst/>
          </a:prstGeom>
          <a:noFill/>
        </p:spPr>
        <p:txBody>
          <a:bodyPr wrap="square">
            <a:spAutoFit/>
          </a:bodyPr>
          <a:lstStyle/>
          <a:p>
            <a:pPr algn="l"/>
            <a:r>
              <a:rPr sz="1200" b="0" i="1">
                <a:solidFill>
                  <a:srgbClr val="808080"/>
                </a:solidFill>
              </a:rPr>
              <a:t>Sprechertext: Ein verbreitetes Missverstaendnis: alle duerfen ueberall mitentscheiden. Das ist nicht gemeint und fuehrt zu Frust und ineffizienten Abstimmungen.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7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82880"/>
            <a:ext cx="11430000" cy="868680"/>
          </a:xfrm>
          <a:prstGeom prst="rect">
            <a:avLst/>
          </a:prstGeom>
          <a:noFill/>
        </p:spPr>
        <p:txBody>
          <a:bodyPr wrap="square">
            <a:spAutoFit/>
          </a:bodyPr>
          <a:lstStyle/>
          <a:p>
            <a:pPr algn="l"/>
            <a:r>
              <a:rPr sz="2800" b="1" i="0">
                <a:solidFill>
                  <a:srgbClr val="FFFFFF"/>
                </a:solidFill>
              </a:rPr>
              <a:t>Was Selbstorganisation NICHT bedeutet</a:t>
            </a:r>
          </a:p>
        </p:txBody>
      </p:sp>
      <p:sp>
        <p:nvSpPr>
          <p:cNvPr id="6" name="Rectangle 5"/>
          <p:cNvSpPr/>
          <p:nvPr/>
        </p:nvSpPr>
        <p:spPr>
          <a:xfrm>
            <a:off x="365760" y="1463040"/>
            <a:ext cx="5486400" cy="1920240"/>
          </a:xfrm>
          <a:prstGeom prst="rect">
            <a:avLst/>
          </a:prstGeom>
          <a:solidFill>
            <a:srgbClr val="FFEBEB"/>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600200"/>
            <a:ext cx="5120640" cy="548640"/>
          </a:xfrm>
          <a:prstGeom prst="rect">
            <a:avLst/>
          </a:prstGeom>
          <a:noFill/>
        </p:spPr>
        <p:txBody>
          <a:bodyPr wrap="square">
            <a:spAutoFit/>
          </a:bodyPr>
          <a:lstStyle/>
          <a:p>
            <a:pPr algn="l"/>
            <a:r>
              <a:rPr sz="2000" b="1" i="0">
                <a:solidFill>
                  <a:srgbClr val="C00000"/>
                </a:solidFill>
              </a:rPr>
              <a:t>-- Strategische Ausrichtung</a:t>
            </a:r>
          </a:p>
        </p:txBody>
      </p:sp>
      <p:sp>
        <p:nvSpPr>
          <p:cNvPr id="8" name="TextBox 7"/>
          <p:cNvSpPr txBox="1"/>
          <p:nvPr/>
        </p:nvSpPr>
        <p:spPr>
          <a:xfrm>
            <a:off x="548640" y="2148840"/>
            <a:ext cx="5120640" cy="1005840"/>
          </a:xfrm>
          <a:prstGeom prst="rect">
            <a:avLst/>
          </a:prstGeom>
          <a:noFill/>
        </p:spPr>
        <p:txBody>
          <a:bodyPr wrap="square">
            <a:spAutoFit/>
          </a:bodyPr>
          <a:lstStyle/>
          <a:p>
            <a:pPr algn="l"/>
            <a:r>
              <a:rPr sz="1700" b="0" i="0">
                <a:solidFill>
                  <a:srgbClr val="404040"/>
                </a:solidFill>
              </a:rPr>
              <a:t>Unternehmen &amp; Produktstrategie</a:t>
            </a:r>
          </a:p>
        </p:txBody>
      </p:sp>
      <p:sp>
        <p:nvSpPr>
          <p:cNvPr id="9" name="Rectangle 8"/>
          <p:cNvSpPr/>
          <p:nvPr/>
        </p:nvSpPr>
        <p:spPr>
          <a:xfrm>
            <a:off x="6309360" y="1463040"/>
            <a:ext cx="5486400" cy="1920240"/>
          </a:xfrm>
          <a:prstGeom prst="rect">
            <a:avLst/>
          </a:prstGeom>
          <a:solidFill>
            <a:srgbClr val="FFEBEB"/>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600200"/>
            <a:ext cx="5120640" cy="548640"/>
          </a:xfrm>
          <a:prstGeom prst="rect">
            <a:avLst/>
          </a:prstGeom>
          <a:noFill/>
        </p:spPr>
        <p:txBody>
          <a:bodyPr wrap="square">
            <a:spAutoFit/>
          </a:bodyPr>
          <a:lstStyle/>
          <a:p>
            <a:pPr algn="l"/>
            <a:r>
              <a:rPr sz="2000" b="1" i="0">
                <a:solidFill>
                  <a:srgbClr val="C00000"/>
                </a:solidFill>
              </a:rPr>
              <a:t>-- Backlog-Priorisierung</a:t>
            </a:r>
          </a:p>
        </p:txBody>
      </p:sp>
      <p:sp>
        <p:nvSpPr>
          <p:cNvPr id="11" name="TextBox 10"/>
          <p:cNvSpPr txBox="1"/>
          <p:nvPr/>
        </p:nvSpPr>
        <p:spPr>
          <a:xfrm>
            <a:off x="6492240" y="2148840"/>
            <a:ext cx="5120640" cy="1005840"/>
          </a:xfrm>
          <a:prstGeom prst="rect">
            <a:avLst/>
          </a:prstGeom>
          <a:noFill/>
        </p:spPr>
        <p:txBody>
          <a:bodyPr wrap="square">
            <a:spAutoFit/>
          </a:bodyPr>
          <a:lstStyle/>
          <a:p>
            <a:pPr algn="l"/>
            <a:r>
              <a:rPr sz="1700" b="0" i="0">
                <a:solidFill>
                  <a:srgbClr val="404040"/>
                </a:solidFill>
              </a:rPr>
              <a:t>Letztverantwortung liegt beim Product Owner</a:t>
            </a:r>
          </a:p>
        </p:txBody>
      </p:sp>
      <p:sp>
        <p:nvSpPr>
          <p:cNvPr id="12" name="Rectangle 11"/>
          <p:cNvSpPr/>
          <p:nvPr/>
        </p:nvSpPr>
        <p:spPr>
          <a:xfrm>
            <a:off x="365760" y="3749039"/>
            <a:ext cx="5486400" cy="1920240"/>
          </a:xfrm>
          <a:prstGeom prst="rect">
            <a:avLst/>
          </a:prstGeom>
          <a:solidFill>
            <a:srgbClr val="FFEBEB"/>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886200"/>
            <a:ext cx="5120640" cy="548640"/>
          </a:xfrm>
          <a:prstGeom prst="rect">
            <a:avLst/>
          </a:prstGeom>
          <a:noFill/>
        </p:spPr>
        <p:txBody>
          <a:bodyPr wrap="square">
            <a:spAutoFit/>
          </a:bodyPr>
          <a:lstStyle/>
          <a:p>
            <a:pPr algn="l"/>
            <a:r>
              <a:rPr sz="2000" b="1" i="0">
                <a:solidFill>
                  <a:srgbClr val="C00000"/>
                </a:solidFill>
              </a:rPr>
              <a:t>-- Unternehmensrichtlinien</a:t>
            </a:r>
          </a:p>
        </p:txBody>
      </p:sp>
      <p:sp>
        <p:nvSpPr>
          <p:cNvPr id="14" name="TextBox 13"/>
          <p:cNvSpPr txBox="1"/>
          <p:nvPr/>
        </p:nvSpPr>
        <p:spPr>
          <a:xfrm>
            <a:off x="548640" y="4434840"/>
            <a:ext cx="5120640" cy="1005840"/>
          </a:xfrm>
          <a:prstGeom prst="rect">
            <a:avLst/>
          </a:prstGeom>
          <a:noFill/>
        </p:spPr>
        <p:txBody>
          <a:bodyPr wrap="square">
            <a:spAutoFit/>
          </a:bodyPr>
          <a:lstStyle/>
          <a:p>
            <a:pPr algn="l"/>
            <a:r>
              <a:rPr sz="1700" b="0" i="0">
                <a:solidFill>
                  <a:srgbClr val="404040"/>
                </a:solidFill>
              </a:rPr>
              <a:t>Org-weite Regeln &amp; Rahmenbedingungen</a:t>
            </a:r>
          </a:p>
        </p:txBody>
      </p:sp>
      <p:sp>
        <p:nvSpPr>
          <p:cNvPr id="15" name="Rectangle 14"/>
          <p:cNvSpPr/>
          <p:nvPr/>
        </p:nvSpPr>
        <p:spPr>
          <a:xfrm>
            <a:off x="6309360" y="3749039"/>
            <a:ext cx="5486400" cy="1920240"/>
          </a:xfrm>
          <a:prstGeom prst="rect">
            <a:avLst/>
          </a:prstGeom>
          <a:solidFill>
            <a:srgbClr val="FFEBEB"/>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3886200"/>
            <a:ext cx="5120640" cy="548640"/>
          </a:xfrm>
          <a:prstGeom prst="rect">
            <a:avLst/>
          </a:prstGeom>
          <a:noFill/>
        </p:spPr>
        <p:txBody>
          <a:bodyPr wrap="square">
            <a:spAutoFit/>
          </a:bodyPr>
          <a:lstStyle/>
          <a:p>
            <a:pPr algn="l"/>
            <a:r>
              <a:rPr sz="2000" b="1" i="0">
                <a:solidFill>
                  <a:srgbClr val="C00000"/>
                </a:solidFill>
              </a:rPr>
              <a:t>-- Personalentscheidungen</a:t>
            </a:r>
          </a:p>
        </p:txBody>
      </p:sp>
      <p:sp>
        <p:nvSpPr>
          <p:cNvPr id="17" name="TextBox 16"/>
          <p:cNvSpPr txBox="1"/>
          <p:nvPr/>
        </p:nvSpPr>
        <p:spPr>
          <a:xfrm>
            <a:off x="6492240" y="4434840"/>
            <a:ext cx="5120640" cy="1005840"/>
          </a:xfrm>
          <a:prstGeom prst="rect">
            <a:avLst/>
          </a:prstGeom>
          <a:noFill/>
        </p:spPr>
        <p:txBody>
          <a:bodyPr wrap="square">
            <a:spAutoFit/>
          </a:bodyPr>
          <a:lstStyle/>
          <a:p>
            <a:pPr algn="l"/>
            <a:r>
              <a:rPr sz="1700" b="0" i="0">
                <a:solidFill>
                  <a:srgbClr val="404040"/>
                </a:solidFill>
              </a:rPr>
              <a:t>Teamzusammensetzung ausserhalb der Team-Autonomie</a:t>
            </a:r>
          </a:p>
        </p:txBody>
      </p:sp>
      <p:sp>
        <p:nvSpPr>
          <p:cNvPr id="18" name="TextBox 17"/>
          <p:cNvSpPr txBox="1"/>
          <p:nvPr/>
        </p:nvSpPr>
        <p:spPr>
          <a:xfrm>
            <a:off x="365760" y="5943600"/>
            <a:ext cx="11430000" cy="822960"/>
          </a:xfrm>
          <a:prstGeom prst="rect">
            <a:avLst/>
          </a:prstGeom>
          <a:noFill/>
        </p:spPr>
        <p:txBody>
          <a:bodyPr wrap="square">
            <a:spAutoFit/>
          </a:bodyPr>
          <a:lstStyle/>
          <a:p>
            <a:pPr algn="l"/>
            <a:r>
              <a:rPr sz="1200" b="0" i="1">
                <a:solidFill>
                  <a:srgbClr val="808080"/>
                </a:solidFill>
              </a:rPr>
              <a:t>Sprechertext: Ein Scrum-Team entscheidet nicht ueber Strategie, Personalentscheidungen oder org. Leitplanken. Auch Backlog-Priorisierung liegt letztlich beim Product Owner.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720"/>
            <a:ext cx="12188952" cy="64008"/>
          </a:xfrm>
          <a:prstGeom prst="rect">
            <a:avLst/>
          </a:prstGeom>
          <a:solidFill>
            <a:srgbClr val="3886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82880"/>
            <a:ext cx="11430000" cy="868680"/>
          </a:xfrm>
          <a:prstGeom prst="rect">
            <a:avLst/>
          </a:prstGeom>
          <a:noFill/>
        </p:spPr>
        <p:txBody>
          <a:bodyPr wrap="square">
            <a:spAutoFit/>
          </a:bodyPr>
          <a:lstStyle/>
          <a:p>
            <a:pPr algn="l"/>
            <a:r>
              <a:rPr sz="2800" b="1" i="0">
                <a:solidFill>
                  <a:srgbClr val="FFFFFF"/>
                </a:solidFill>
              </a:rPr>
              <a:t>Was Selbstorganisation wirklich bedeutet</a:t>
            </a:r>
          </a:p>
        </p:txBody>
      </p:sp>
      <p:sp>
        <p:nvSpPr>
          <p:cNvPr id="6" name="Rectangle 5"/>
          <p:cNvSpPr/>
          <p:nvPr/>
        </p:nvSpPr>
        <p:spPr>
          <a:xfrm>
            <a:off x="1828800" y="1417320"/>
            <a:ext cx="8531352" cy="77724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20240" y="1463040"/>
            <a:ext cx="8321040" cy="685800"/>
          </a:xfrm>
          <a:prstGeom prst="rect">
            <a:avLst/>
          </a:prstGeom>
          <a:noFill/>
        </p:spPr>
        <p:txBody>
          <a:bodyPr wrap="square">
            <a:spAutoFit/>
          </a:bodyPr>
          <a:lstStyle/>
          <a:p>
            <a:pPr algn="ctr"/>
            <a:r>
              <a:rPr sz="2200" b="1" i="0">
                <a:solidFill>
                  <a:srgbClr val="FFFFFF"/>
                </a:solidFill>
              </a:rPr>
              <a:t>Das Team entscheidet selbst ueber das WIE der Arbeit</a:t>
            </a:r>
          </a:p>
        </p:txBody>
      </p:sp>
      <p:sp>
        <p:nvSpPr>
          <p:cNvPr id="8" name="Rectangle 7"/>
          <p:cNvSpPr/>
          <p:nvPr/>
        </p:nvSpPr>
        <p:spPr>
          <a:xfrm>
            <a:off x="365760" y="2423160"/>
            <a:ext cx="5486400" cy="1554480"/>
          </a:xfrm>
          <a:prstGeom prst="rect">
            <a:avLst/>
          </a:prstGeom>
          <a:solidFill>
            <a:srgbClr val="E7F3E7"/>
          </a:solidFill>
          <a:ln>
            <a:solidFill>
              <a:srgbClr val="3886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560320"/>
            <a:ext cx="5120640" cy="502920"/>
          </a:xfrm>
          <a:prstGeom prst="rect">
            <a:avLst/>
          </a:prstGeom>
          <a:noFill/>
        </p:spPr>
        <p:txBody>
          <a:bodyPr wrap="square">
            <a:spAutoFit/>
          </a:bodyPr>
          <a:lstStyle/>
          <a:p>
            <a:pPr algn="l"/>
            <a:r>
              <a:rPr sz="2000" b="1" i="0">
                <a:solidFill>
                  <a:srgbClr val="388638"/>
                </a:solidFill>
              </a:rPr>
              <a:t>Aufgabenverteilung</a:t>
            </a:r>
          </a:p>
        </p:txBody>
      </p:sp>
      <p:sp>
        <p:nvSpPr>
          <p:cNvPr id="10" name="TextBox 9"/>
          <p:cNvSpPr txBox="1"/>
          <p:nvPr/>
        </p:nvSpPr>
        <p:spPr>
          <a:xfrm>
            <a:off x="548640" y="3063239"/>
            <a:ext cx="5120640" cy="731520"/>
          </a:xfrm>
          <a:prstGeom prst="rect">
            <a:avLst/>
          </a:prstGeom>
          <a:noFill/>
        </p:spPr>
        <p:txBody>
          <a:bodyPr wrap="square">
            <a:spAutoFit/>
          </a:bodyPr>
          <a:lstStyle/>
          <a:p>
            <a:pPr algn="l"/>
            <a:r>
              <a:rPr sz="1700" b="0" i="0">
                <a:solidFill>
                  <a:srgbClr val="404040"/>
                </a:solidFill>
              </a:rPr>
              <a:t>Wer arbeitet woran?</a:t>
            </a:r>
          </a:p>
        </p:txBody>
      </p:sp>
      <p:sp>
        <p:nvSpPr>
          <p:cNvPr id="11" name="Rectangle 10"/>
          <p:cNvSpPr/>
          <p:nvPr/>
        </p:nvSpPr>
        <p:spPr>
          <a:xfrm>
            <a:off x="6309360" y="2423160"/>
            <a:ext cx="5486400" cy="1554480"/>
          </a:xfrm>
          <a:prstGeom prst="rect">
            <a:avLst/>
          </a:prstGeom>
          <a:solidFill>
            <a:srgbClr val="E7F3E7"/>
          </a:solidFill>
          <a:ln>
            <a:solidFill>
              <a:srgbClr val="3886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560320"/>
            <a:ext cx="5120640" cy="502920"/>
          </a:xfrm>
          <a:prstGeom prst="rect">
            <a:avLst/>
          </a:prstGeom>
          <a:noFill/>
        </p:spPr>
        <p:txBody>
          <a:bodyPr wrap="square">
            <a:spAutoFit/>
          </a:bodyPr>
          <a:lstStyle/>
          <a:p>
            <a:pPr algn="l"/>
            <a:r>
              <a:rPr sz="2000" b="1" i="0">
                <a:solidFill>
                  <a:srgbClr val="388638"/>
                </a:solidFill>
              </a:rPr>
              <a:t>Methoden &amp; Werkzeuge</a:t>
            </a:r>
          </a:p>
        </p:txBody>
      </p:sp>
      <p:sp>
        <p:nvSpPr>
          <p:cNvPr id="13" name="TextBox 12"/>
          <p:cNvSpPr txBox="1"/>
          <p:nvPr/>
        </p:nvSpPr>
        <p:spPr>
          <a:xfrm>
            <a:off x="6492240" y="3063239"/>
            <a:ext cx="5120640" cy="731520"/>
          </a:xfrm>
          <a:prstGeom prst="rect">
            <a:avLst/>
          </a:prstGeom>
          <a:noFill/>
        </p:spPr>
        <p:txBody>
          <a:bodyPr wrap="square">
            <a:spAutoFit/>
          </a:bodyPr>
          <a:lstStyle/>
          <a:p>
            <a:pPr algn="l"/>
            <a:r>
              <a:rPr sz="1700" b="0" i="0">
                <a:solidFill>
                  <a:srgbClr val="404040"/>
                </a:solidFill>
              </a:rPr>
              <a:t>Welche Techniken werden eingesetzt?</a:t>
            </a:r>
          </a:p>
        </p:txBody>
      </p:sp>
      <p:sp>
        <p:nvSpPr>
          <p:cNvPr id="14" name="Rectangle 13"/>
          <p:cNvSpPr/>
          <p:nvPr/>
        </p:nvSpPr>
        <p:spPr>
          <a:xfrm>
            <a:off x="365760" y="4297680"/>
            <a:ext cx="5486400" cy="1554480"/>
          </a:xfrm>
          <a:prstGeom prst="rect">
            <a:avLst/>
          </a:prstGeom>
          <a:solidFill>
            <a:srgbClr val="E7F3E7"/>
          </a:solidFill>
          <a:ln>
            <a:solidFill>
              <a:srgbClr val="3886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4434840"/>
            <a:ext cx="5120640" cy="502920"/>
          </a:xfrm>
          <a:prstGeom prst="rect">
            <a:avLst/>
          </a:prstGeom>
          <a:noFill/>
        </p:spPr>
        <p:txBody>
          <a:bodyPr wrap="square">
            <a:spAutoFit/>
          </a:bodyPr>
          <a:lstStyle/>
          <a:p>
            <a:pPr algn="l"/>
            <a:r>
              <a:rPr sz="2000" b="1" i="0">
                <a:solidFill>
                  <a:srgbClr val="388638"/>
                </a:solidFill>
              </a:rPr>
              <a:t>Zusammenarbeit</a:t>
            </a:r>
          </a:p>
        </p:txBody>
      </p:sp>
      <p:sp>
        <p:nvSpPr>
          <p:cNvPr id="16" name="TextBox 15"/>
          <p:cNvSpPr txBox="1"/>
          <p:nvPr/>
        </p:nvSpPr>
        <p:spPr>
          <a:xfrm>
            <a:off x="548640" y="4937760"/>
            <a:ext cx="5120640" cy="731520"/>
          </a:xfrm>
          <a:prstGeom prst="rect">
            <a:avLst/>
          </a:prstGeom>
          <a:noFill/>
        </p:spPr>
        <p:txBody>
          <a:bodyPr wrap="square">
            <a:spAutoFit/>
          </a:bodyPr>
          <a:lstStyle/>
          <a:p>
            <a:pPr algn="l"/>
            <a:r>
              <a:rPr sz="1700" b="0" i="0">
                <a:solidFill>
                  <a:srgbClr val="404040"/>
                </a:solidFill>
              </a:rPr>
              <a:t>Wie gestalten wir Meetings &amp; Workflows?</a:t>
            </a:r>
          </a:p>
        </p:txBody>
      </p:sp>
      <p:sp>
        <p:nvSpPr>
          <p:cNvPr id="17" name="Rectangle 16"/>
          <p:cNvSpPr/>
          <p:nvPr/>
        </p:nvSpPr>
        <p:spPr>
          <a:xfrm>
            <a:off x="6309360" y="4297680"/>
            <a:ext cx="5486400" cy="1554480"/>
          </a:xfrm>
          <a:prstGeom prst="rect">
            <a:avLst/>
          </a:prstGeom>
          <a:solidFill>
            <a:srgbClr val="E7F3E7"/>
          </a:solidFill>
          <a:ln>
            <a:solidFill>
              <a:srgbClr val="3886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4434840"/>
            <a:ext cx="5120640" cy="502920"/>
          </a:xfrm>
          <a:prstGeom prst="rect">
            <a:avLst/>
          </a:prstGeom>
          <a:noFill/>
        </p:spPr>
        <p:txBody>
          <a:bodyPr wrap="square">
            <a:spAutoFit/>
          </a:bodyPr>
          <a:lstStyle/>
          <a:p>
            <a:pPr algn="l"/>
            <a:r>
              <a:rPr sz="2000" b="1" i="0">
                <a:solidFill>
                  <a:srgbClr val="388638"/>
                </a:solidFill>
              </a:rPr>
              <a:t>Inspect &amp; Adapt</a:t>
            </a:r>
          </a:p>
        </p:txBody>
      </p:sp>
      <p:sp>
        <p:nvSpPr>
          <p:cNvPr id="19" name="TextBox 18"/>
          <p:cNvSpPr txBox="1"/>
          <p:nvPr/>
        </p:nvSpPr>
        <p:spPr>
          <a:xfrm>
            <a:off x="6492240" y="4937760"/>
            <a:ext cx="5120640" cy="731520"/>
          </a:xfrm>
          <a:prstGeom prst="rect">
            <a:avLst/>
          </a:prstGeom>
          <a:noFill/>
        </p:spPr>
        <p:txBody>
          <a:bodyPr wrap="square">
            <a:spAutoFit/>
          </a:bodyPr>
          <a:lstStyle/>
          <a:p>
            <a:pPr algn="l"/>
            <a:r>
              <a:rPr sz="1700" b="0" i="0">
                <a:solidFill>
                  <a:srgbClr val="404040"/>
                </a:solidFill>
              </a:rPr>
              <a:t>Wie loesen wir Probleme &amp; verbessern uns?</a:t>
            </a:r>
          </a:p>
        </p:txBody>
      </p:sp>
      <p:sp>
        <p:nvSpPr>
          <p:cNvPr id="20" name="TextBox 19"/>
          <p:cNvSpPr txBox="1"/>
          <p:nvPr/>
        </p:nvSpPr>
        <p:spPr>
          <a:xfrm>
            <a:off x="365760" y="5943600"/>
            <a:ext cx="11430000" cy="822960"/>
          </a:xfrm>
          <a:prstGeom prst="rect">
            <a:avLst/>
          </a:prstGeom>
          <a:noFill/>
        </p:spPr>
        <p:txBody>
          <a:bodyPr wrap="square">
            <a:spAutoFit/>
          </a:bodyPr>
          <a:lstStyle/>
          <a:p>
            <a:pPr algn="l"/>
            <a:r>
              <a:rPr sz="1200" b="0" i="1">
                <a:solidFill>
                  <a:srgbClr val="808080"/>
                </a:solidFill>
              </a:rPr>
              <a:t>Sprechertext: Selbstorganisation bezieht sich auf das Wie der Arbeit. Das Team organisiert Zusammenarbeit eigenverantwortlich, verteilt Aufgaben und verbessert sich kontinuierlich.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720"/>
            <a:ext cx="12188952" cy="6400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82880"/>
            <a:ext cx="11430000" cy="868680"/>
          </a:xfrm>
          <a:prstGeom prst="rect">
            <a:avLst/>
          </a:prstGeom>
          <a:noFill/>
        </p:spPr>
        <p:txBody>
          <a:bodyPr wrap="square">
            <a:spAutoFit/>
          </a:bodyPr>
          <a:lstStyle/>
          <a:p>
            <a:pPr algn="l"/>
            <a:r>
              <a:rPr sz="2800" b="1" i="0">
                <a:solidFill>
                  <a:srgbClr val="FFFFFF"/>
                </a:solidFill>
              </a:rPr>
              <a:t>Selbstorganisation im skalierten Umfeld</a:t>
            </a:r>
          </a:p>
        </p:txBody>
      </p:sp>
      <p:sp>
        <p:nvSpPr>
          <p:cNvPr id="6" name="Rectangle 5"/>
          <p:cNvSpPr/>
          <p:nvPr/>
        </p:nvSpPr>
        <p:spPr>
          <a:xfrm>
            <a:off x="914400" y="1554480"/>
            <a:ext cx="2743200" cy="128016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2743200" cy="1280160"/>
          </a:xfrm>
          <a:prstGeom prst="rect">
            <a:avLst/>
          </a:prstGeom>
          <a:noFill/>
        </p:spPr>
        <p:txBody>
          <a:bodyPr wrap="square">
            <a:spAutoFit/>
          </a:bodyPr>
          <a:lstStyle/>
          <a:p>
            <a:pPr algn="ctr"/>
            <a:r>
              <a:rPr sz="2200" b="1" i="0">
                <a:solidFill>
                  <a:srgbClr val="FFFFFF"/>
                </a:solidFill>
              </a:rPr>
              <a:t>Team A</a:t>
            </a:r>
          </a:p>
        </p:txBody>
      </p:sp>
      <p:sp>
        <p:nvSpPr>
          <p:cNvPr id="8" name="Rectangle 7"/>
          <p:cNvSpPr/>
          <p:nvPr/>
        </p:nvSpPr>
        <p:spPr>
          <a:xfrm>
            <a:off x="4389120" y="1554480"/>
            <a:ext cx="2743200" cy="128016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0" y="1554480"/>
            <a:ext cx="2743200" cy="1280160"/>
          </a:xfrm>
          <a:prstGeom prst="rect">
            <a:avLst/>
          </a:prstGeom>
          <a:noFill/>
        </p:spPr>
        <p:txBody>
          <a:bodyPr wrap="square">
            <a:spAutoFit/>
          </a:bodyPr>
          <a:lstStyle/>
          <a:p>
            <a:pPr algn="ctr"/>
            <a:r>
              <a:rPr sz="2200" b="1" i="0">
                <a:solidFill>
                  <a:srgbClr val="FFFFFF"/>
                </a:solidFill>
              </a:rPr>
              <a:t>Team B</a:t>
            </a:r>
          </a:p>
        </p:txBody>
      </p:sp>
      <p:sp>
        <p:nvSpPr>
          <p:cNvPr id="10" name="Rectangle 9"/>
          <p:cNvSpPr/>
          <p:nvPr/>
        </p:nvSpPr>
        <p:spPr>
          <a:xfrm>
            <a:off x="7863840" y="1554480"/>
            <a:ext cx="2743200" cy="128016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1554480"/>
            <a:ext cx="2743200" cy="1280160"/>
          </a:xfrm>
          <a:prstGeom prst="rect">
            <a:avLst/>
          </a:prstGeom>
          <a:noFill/>
        </p:spPr>
        <p:txBody>
          <a:bodyPr wrap="square">
            <a:spAutoFit/>
          </a:bodyPr>
          <a:lstStyle/>
          <a:p>
            <a:pPr algn="ctr"/>
            <a:r>
              <a:rPr sz="2200" b="1" i="0">
                <a:solidFill>
                  <a:srgbClr val="FFFFFF"/>
                </a:solidFill>
              </a:rPr>
              <a:t>Team C</a:t>
            </a:r>
          </a:p>
        </p:txBody>
      </p:sp>
      <p:sp>
        <p:nvSpPr>
          <p:cNvPr id="12" name="Rectangle 11"/>
          <p:cNvSpPr/>
          <p:nvPr/>
        </p:nvSpPr>
        <p:spPr>
          <a:xfrm>
            <a:off x="3200400" y="3017520"/>
            <a:ext cx="5788152" cy="54864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0" y="3017520"/>
            <a:ext cx="5788152" cy="548640"/>
          </a:xfrm>
          <a:prstGeom prst="rect">
            <a:avLst/>
          </a:prstGeom>
          <a:noFill/>
        </p:spPr>
        <p:txBody>
          <a:bodyPr wrap="square">
            <a:spAutoFit/>
          </a:bodyPr>
          <a:lstStyle/>
          <a:p>
            <a:pPr algn="ctr"/>
            <a:r>
              <a:rPr sz="1600" b="1" i="0">
                <a:solidFill>
                  <a:srgbClr val="1F3564"/>
                </a:solidFill>
              </a:rPr>
              <a:t>gemeinsames Produkt / gemeinsamer Bereich</a:t>
            </a:r>
          </a:p>
        </p:txBody>
      </p:sp>
      <p:sp>
        <p:nvSpPr>
          <p:cNvPr id="14" name="TextBox 13"/>
          <p:cNvSpPr txBox="1"/>
          <p:nvPr/>
        </p:nvSpPr>
        <p:spPr>
          <a:xfrm>
            <a:off x="548640" y="3840480"/>
            <a:ext cx="10972800" cy="502920"/>
          </a:xfrm>
          <a:prstGeom prst="rect">
            <a:avLst/>
          </a:prstGeom>
          <a:noFill/>
        </p:spPr>
        <p:txBody>
          <a:bodyPr wrap="square">
            <a:spAutoFit/>
          </a:bodyPr>
          <a:lstStyle/>
          <a:p>
            <a:pPr algn="l"/>
            <a:r>
              <a:rPr sz="1900" b="0" i="0">
                <a:solidFill>
                  <a:srgbClr val="404040"/>
                </a:solidFill>
              </a:rPr>
              <a:t>&gt; Im skalierten Umfeld gelten zusaetzliche Rahmenbedingungen</a:t>
            </a:r>
          </a:p>
        </p:txBody>
      </p:sp>
      <p:sp>
        <p:nvSpPr>
          <p:cNvPr id="15" name="TextBox 14"/>
          <p:cNvSpPr txBox="1"/>
          <p:nvPr/>
        </p:nvSpPr>
        <p:spPr>
          <a:xfrm>
            <a:off x="548640" y="4370832"/>
            <a:ext cx="10972800" cy="502920"/>
          </a:xfrm>
          <a:prstGeom prst="rect">
            <a:avLst/>
          </a:prstGeom>
          <a:noFill/>
        </p:spPr>
        <p:txBody>
          <a:bodyPr wrap="square">
            <a:spAutoFit/>
          </a:bodyPr>
          <a:lstStyle/>
          <a:p>
            <a:pPr algn="l"/>
            <a:r>
              <a:rPr sz="1900" b="0" i="0">
                <a:solidFill>
                  <a:srgbClr val="404040"/>
                </a:solidFill>
              </a:rPr>
              <a:t>&gt; Diese Regeln sind keine Einschraenkung der Selbstorganisation</a:t>
            </a:r>
          </a:p>
        </p:txBody>
      </p:sp>
      <p:sp>
        <p:nvSpPr>
          <p:cNvPr id="16" name="TextBox 15"/>
          <p:cNvSpPr txBox="1"/>
          <p:nvPr/>
        </p:nvSpPr>
        <p:spPr>
          <a:xfrm>
            <a:off x="548640" y="4901184"/>
            <a:ext cx="10972800" cy="502920"/>
          </a:xfrm>
          <a:prstGeom prst="rect">
            <a:avLst/>
          </a:prstGeom>
          <a:noFill/>
        </p:spPr>
        <p:txBody>
          <a:bodyPr wrap="square">
            <a:spAutoFit/>
          </a:bodyPr>
          <a:lstStyle/>
          <a:p>
            <a:pPr algn="l"/>
            <a:r>
              <a:rPr sz="1900" b="1" i="0">
                <a:solidFill>
                  <a:srgbClr val="404040"/>
                </a:solidFill>
              </a:rPr>
              <a:t>&gt; Sie sind Voraussetzung fuer effektive Zusammenarbeit</a:t>
            </a:r>
          </a:p>
        </p:txBody>
      </p:sp>
      <p:sp>
        <p:nvSpPr>
          <p:cNvPr id="17" name="TextBox 16"/>
          <p:cNvSpPr txBox="1"/>
          <p:nvPr/>
        </p:nvSpPr>
        <p:spPr>
          <a:xfrm>
            <a:off x="365760" y="5943600"/>
            <a:ext cx="11430000" cy="822960"/>
          </a:xfrm>
          <a:prstGeom prst="rect">
            <a:avLst/>
          </a:prstGeom>
          <a:noFill/>
        </p:spPr>
        <p:txBody>
          <a:bodyPr wrap="square">
            <a:spAutoFit/>
          </a:bodyPr>
          <a:lstStyle/>
          <a:p>
            <a:pPr algn="l"/>
            <a:r>
              <a:rPr sz="1200" b="0" i="1">
                <a:solidFill>
                  <a:srgbClr val="808080"/>
                </a:solidFill>
              </a:rPr>
              <a:t>Sprechertext: Sobald mehrere Teams gemeinsam an einem Produkt arbeiten, reicht reine Teamautonomie nicht. Es braucht gemeinsame Regeln fuer Zusammenarbeit und Integration.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7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82880"/>
            <a:ext cx="11430000" cy="868680"/>
          </a:xfrm>
          <a:prstGeom prst="rect">
            <a:avLst/>
          </a:prstGeom>
          <a:noFill/>
        </p:spPr>
        <p:txBody>
          <a:bodyPr wrap="square">
            <a:spAutoFit/>
          </a:bodyPr>
          <a:lstStyle/>
          <a:p>
            <a:pPr algn="l"/>
            <a:r>
              <a:rPr sz="2800" b="1" i="0">
                <a:solidFill>
                  <a:srgbClr val="FFFFFF"/>
                </a:solidFill>
              </a:rPr>
              <a:t>Warum gemeinsame Regeln noetig sind</a:t>
            </a:r>
          </a:p>
        </p:txBody>
      </p:sp>
      <p:sp>
        <p:nvSpPr>
          <p:cNvPr id="6" name="TextBox 5"/>
          <p:cNvSpPr txBox="1"/>
          <p:nvPr/>
        </p:nvSpPr>
        <p:spPr>
          <a:xfrm>
            <a:off x="548640" y="1417320"/>
            <a:ext cx="10972800" cy="457200"/>
          </a:xfrm>
          <a:prstGeom prst="rect">
            <a:avLst/>
          </a:prstGeom>
          <a:noFill/>
        </p:spPr>
        <p:txBody>
          <a:bodyPr wrap="square">
            <a:spAutoFit/>
          </a:bodyPr>
          <a:lstStyle/>
          <a:p>
            <a:pPr algn="l"/>
            <a:r>
              <a:rPr sz="2000" b="1" i="0">
                <a:solidFill>
                  <a:srgbClr val="404040"/>
                </a:solidFill>
              </a:rPr>
              <a:t>Ohne uebergreifende Standards drohen:</a:t>
            </a:r>
          </a:p>
        </p:txBody>
      </p:sp>
      <p:sp>
        <p:nvSpPr>
          <p:cNvPr id="7" name="Rectangle 6"/>
          <p:cNvSpPr/>
          <p:nvPr/>
        </p:nvSpPr>
        <p:spPr>
          <a:xfrm>
            <a:off x="457200" y="2011680"/>
            <a:ext cx="10972800" cy="594360"/>
          </a:xfrm>
          <a:prstGeom prst="rect">
            <a:avLst/>
          </a:prstGeom>
          <a:solidFill>
            <a:srgbClr val="FFEBEB"/>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084832"/>
            <a:ext cx="10607040" cy="457200"/>
          </a:xfrm>
          <a:prstGeom prst="rect">
            <a:avLst/>
          </a:prstGeom>
          <a:noFill/>
        </p:spPr>
        <p:txBody>
          <a:bodyPr wrap="square">
            <a:spAutoFit/>
          </a:bodyPr>
          <a:lstStyle/>
          <a:p>
            <a:pPr algn="l"/>
            <a:r>
              <a:rPr sz="1800" b="0" i="0">
                <a:solidFill>
                  <a:srgbClr val="404040"/>
                </a:solidFill>
              </a:rPr>
              <a:t>-- Keine gemeinsame Sprache zwischen Teams</a:t>
            </a:r>
          </a:p>
        </p:txBody>
      </p:sp>
      <p:sp>
        <p:nvSpPr>
          <p:cNvPr id="9" name="Rectangle 8"/>
          <p:cNvSpPr/>
          <p:nvPr/>
        </p:nvSpPr>
        <p:spPr>
          <a:xfrm>
            <a:off x="457200" y="2761488"/>
            <a:ext cx="10972800" cy="594360"/>
          </a:xfrm>
          <a:prstGeom prst="rect">
            <a:avLst/>
          </a:prstGeom>
          <a:solidFill>
            <a:srgbClr val="FFEBEB"/>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834640"/>
            <a:ext cx="10607040" cy="457200"/>
          </a:xfrm>
          <a:prstGeom prst="rect">
            <a:avLst/>
          </a:prstGeom>
          <a:noFill/>
        </p:spPr>
        <p:txBody>
          <a:bodyPr wrap="square">
            <a:spAutoFit/>
          </a:bodyPr>
          <a:lstStyle/>
          <a:p>
            <a:pPr algn="l"/>
            <a:r>
              <a:rPr sz="1800" b="0" i="0">
                <a:solidFill>
                  <a:srgbClr val="404040"/>
                </a:solidFill>
              </a:rPr>
              <a:t>-- Integrationsprobleme bei gemeinsamer Software</a:t>
            </a:r>
          </a:p>
        </p:txBody>
      </p:sp>
      <p:sp>
        <p:nvSpPr>
          <p:cNvPr id="11" name="Rectangle 10"/>
          <p:cNvSpPr/>
          <p:nvPr/>
        </p:nvSpPr>
        <p:spPr>
          <a:xfrm>
            <a:off x="457200" y="3511296"/>
            <a:ext cx="10972800" cy="594360"/>
          </a:xfrm>
          <a:prstGeom prst="rect">
            <a:avLst/>
          </a:prstGeom>
          <a:solidFill>
            <a:srgbClr val="FFEBEB"/>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584448"/>
            <a:ext cx="10607040" cy="457200"/>
          </a:xfrm>
          <a:prstGeom prst="rect">
            <a:avLst/>
          </a:prstGeom>
          <a:noFill/>
        </p:spPr>
        <p:txBody>
          <a:bodyPr wrap="square">
            <a:spAutoFit/>
          </a:bodyPr>
          <a:lstStyle/>
          <a:p>
            <a:pPr algn="l"/>
            <a:r>
              <a:rPr sz="1800" b="0" i="0">
                <a:solidFill>
                  <a:srgbClr val="404040"/>
                </a:solidFill>
              </a:rPr>
              <a:t>-- Doppelarbeit und ineffiziente Abstimmungen</a:t>
            </a:r>
          </a:p>
        </p:txBody>
      </p:sp>
      <p:sp>
        <p:nvSpPr>
          <p:cNvPr id="13" name="Rectangle 12"/>
          <p:cNvSpPr/>
          <p:nvPr/>
        </p:nvSpPr>
        <p:spPr>
          <a:xfrm>
            <a:off x="457200" y="4261104"/>
            <a:ext cx="10972800" cy="594360"/>
          </a:xfrm>
          <a:prstGeom prst="rect">
            <a:avLst/>
          </a:prstGeom>
          <a:solidFill>
            <a:srgbClr val="FFEBEB"/>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334256"/>
            <a:ext cx="10607040" cy="457200"/>
          </a:xfrm>
          <a:prstGeom prst="rect">
            <a:avLst/>
          </a:prstGeom>
          <a:noFill/>
        </p:spPr>
        <p:txBody>
          <a:bodyPr wrap="square">
            <a:spAutoFit/>
          </a:bodyPr>
          <a:lstStyle/>
          <a:p>
            <a:pPr algn="l"/>
            <a:r>
              <a:rPr sz="1800" b="0" i="0">
                <a:solidFill>
                  <a:srgbClr val="404040"/>
                </a:solidFill>
              </a:rPr>
              <a:t>-- Abhaengigkeiten, die kaum koordiniert werden koennen</a:t>
            </a:r>
          </a:p>
        </p:txBody>
      </p:sp>
      <p:sp>
        <p:nvSpPr>
          <p:cNvPr id="15" name="Rectangle 14"/>
          <p:cNvSpPr/>
          <p:nvPr/>
        </p:nvSpPr>
        <p:spPr>
          <a:xfrm>
            <a:off x="457200" y="5120640"/>
            <a:ext cx="11274552" cy="731520"/>
          </a:xfrm>
          <a:prstGeom prst="rect">
            <a:avLst/>
          </a:prstGeom>
          <a:solidFill>
            <a:srgbClr val="3886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5148072"/>
            <a:ext cx="10972800" cy="640080"/>
          </a:xfrm>
          <a:prstGeom prst="rect">
            <a:avLst/>
          </a:prstGeom>
          <a:noFill/>
        </p:spPr>
        <p:txBody>
          <a:bodyPr wrap="square">
            <a:spAutoFit/>
          </a:bodyPr>
          <a:lstStyle/>
          <a:p>
            <a:pPr algn="l"/>
            <a:r>
              <a:rPr sz="2000" b="1" i="0">
                <a:solidFill>
                  <a:srgbClr val="FFFFFF"/>
                </a:solidFill>
              </a:rPr>
              <a:t>Gemeinsame Standards ermoeglichen wirksame Selbstorganisation.</a:t>
            </a:r>
          </a:p>
        </p:txBody>
      </p:sp>
      <p:sp>
        <p:nvSpPr>
          <p:cNvPr id="17" name="TextBox 16"/>
          <p:cNvSpPr txBox="1"/>
          <p:nvPr/>
        </p:nvSpPr>
        <p:spPr>
          <a:xfrm>
            <a:off x="365760" y="5943600"/>
            <a:ext cx="11430000" cy="822960"/>
          </a:xfrm>
          <a:prstGeom prst="rect">
            <a:avLst/>
          </a:prstGeom>
          <a:noFill/>
        </p:spPr>
        <p:txBody>
          <a:bodyPr wrap="square">
            <a:spAutoFit/>
          </a:bodyPr>
          <a:lstStyle/>
          <a:p>
            <a:pPr algn="l"/>
            <a:r>
              <a:rPr sz="1200" b="0" i="1">
                <a:solidFill>
                  <a:srgbClr val="808080"/>
                </a:solidFill>
              </a:rPr>
              <a:t>Sprechertext: Wenn jedes Team voellig eigene Werkzeuge nutzt, wird Zusammenarbeit schwierig. Gemeinsame Regeln schaffen mehr, nicht weniger Selbstorganisation.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720"/>
            <a:ext cx="12188952" cy="6400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82880"/>
            <a:ext cx="11430000" cy="868680"/>
          </a:xfrm>
          <a:prstGeom prst="rect">
            <a:avLst/>
          </a:prstGeom>
          <a:noFill/>
        </p:spPr>
        <p:txBody>
          <a:bodyPr wrap="square">
            <a:spAutoFit/>
          </a:bodyPr>
          <a:lstStyle/>
          <a:p>
            <a:pPr algn="l"/>
            <a:r>
              <a:rPr sz="2800" b="1" i="0">
                <a:solidFill>
                  <a:srgbClr val="FFFFFF"/>
                </a:solidFill>
              </a:rPr>
              <a:t>Typische Bereiche mit teuebergreifenden Vorgaben</a:t>
            </a:r>
          </a:p>
        </p:txBody>
      </p:sp>
      <p:sp>
        <p:nvSpPr>
          <p:cNvPr id="6" name="Rectangle 5"/>
          <p:cNvSpPr/>
          <p:nvPr/>
        </p:nvSpPr>
        <p:spPr>
          <a:xfrm>
            <a:off x="274320" y="1371600"/>
            <a:ext cx="3657600" cy="45720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389888"/>
            <a:ext cx="3474720" cy="411480"/>
          </a:xfrm>
          <a:prstGeom prst="rect">
            <a:avLst/>
          </a:prstGeom>
          <a:noFill/>
        </p:spPr>
        <p:txBody>
          <a:bodyPr wrap="square">
            <a:spAutoFit/>
          </a:bodyPr>
          <a:lstStyle/>
          <a:p>
            <a:pPr algn="l"/>
            <a:r>
              <a:rPr sz="1600" b="1" i="0">
                <a:solidFill>
                  <a:srgbClr val="FFFFFF"/>
                </a:solidFill>
              </a:rPr>
              <a:t>Bereich</a:t>
            </a:r>
          </a:p>
        </p:txBody>
      </p:sp>
      <p:sp>
        <p:nvSpPr>
          <p:cNvPr id="8" name="Rectangle 7"/>
          <p:cNvSpPr/>
          <p:nvPr/>
        </p:nvSpPr>
        <p:spPr>
          <a:xfrm>
            <a:off x="3931920" y="1371600"/>
            <a:ext cx="4114800" cy="45720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59" y="1389888"/>
            <a:ext cx="3931920" cy="411480"/>
          </a:xfrm>
          <a:prstGeom prst="rect">
            <a:avLst/>
          </a:prstGeom>
          <a:noFill/>
        </p:spPr>
        <p:txBody>
          <a:bodyPr wrap="square">
            <a:spAutoFit/>
          </a:bodyPr>
          <a:lstStyle/>
          <a:p>
            <a:pPr algn="l"/>
            <a:r>
              <a:rPr sz="1600" b="1" i="0">
                <a:solidFill>
                  <a:srgbClr val="FFFFFF"/>
                </a:solidFill>
              </a:rPr>
              <a:t>Beispiel</a:t>
            </a:r>
          </a:p>
        </p:txBody>
      </p:sp>
      <p:sp>
        <p:nvSpPr>
          <p:cNvPr id="10" name="Rectangle 9"/>
          <p:cNvSpPr/>
          <p:nvPr/>
        </p:nvSpPr>
        <p:spPr>
          <a:xfrm>
            <a:off x="8046720" y="1371600"/>
            <a:ext cx="3931920" cy="45720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0" y="1389888"/>
            <a:ext cx="3749039" cy="411480"/>
          </a:xfrm>
          <a:prstGeom prst="rect">
            <a:avLst/>
          </a:prstGeom>
          <a:noFill/>
        </p:spPr>
        <p:txBody>
          <a:bodyPr wrap="square">
            <a:spAutoFit/>
          </a:bodyPr>
          <a:lstStyle/>
          <a:p>
            <a:pPr algn="l"/>
            <a:r>
              <a:rPr sz="1600" b="1" i="0">
                <a:solidFill>
                  <a:srgbClr val="FFFFFF"/>
                </a:solidFill>
              </a:rPr>
              <a:t>Warum einheitlich?</a:t>
            </a:r>
          </a:p>
        </p:txBody>
      </p:sp>
      <p:sp>
        <p:nvSpPr>
          <p:cNvPr id="12" name="Rectangle 11"/>
          <p:cNvSpPr/>
          <p:nvPr/>
        </p:nvSpPr>
        <p:spPr>
          <a:xfrm>
            <a:off x="274320" y="1920240"/>
            <a:ext cx="3657600" cy="548640"/>
          </a:xfrm>
          <a:prstGeom prst="rect">
            <a:avLst/>
          </a:prstGeom>
          <a:solidFill>
            <a:srgbClr val="E8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1956816"/>
            <a:ext cx="3474720" cy="475488"/>
          </a:xfrm>
          <a:prstGeom prst="rect">
            <a:avLst/>
          </a:prstGeom>
          <a:noFill/>
        </p:spPr>
        <p:txBody>
          <a:bodyPr wrap="square">
            <a:spAutoFit/>
          </a:bodyPr>
          <a:lstStyle/>
          <a:p>
            <a:pPr algn="l"/>
            <a:r>
              <a:rPr sz="1400" b="0" i="0">
                <a:solidFill>
                  <a:srgbClr val="404040"/>
                </a:solidFill>
              </a:rPr>
              <a:t>Entwicklungswerkzeuge</a:t>
            </a:r>
          </a:p>
        </p:txBody>
      </p:sp>
      <p:sp>
        <p:nvSpPr>
          <p:cNvPr id="14" name="Rectangle 13"/>
          <p:cNvSpPr/>
          <p:nvPr/>
        </p:nvSpPr>
        <p:spPr>
          <a:xfrm>
            <a:off x="3931920" y="1920240"/>
            <a:ext cx="4114800" cy="548640"/>
          </a:xfrm>
          <a:prstGeom prst="rect">
            <a:avLst/>
          </a:prstGeom>
          <a:solidFill>
            <a:srgbClr val="E8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59" y="1956816"/>
            <a:ext cx="3931920" cy="475488"/>
          </a:xfrm>
          <a:prstGeom prst="rect">
            <a:avLst/>
          </a:prstGeom>
          <a:noFill/>
        </p:spPr>
        <p:txBody>
          <a:bodyPr wrap="square">
            <a:spAutoFit/>
          </a:bodyPr>
          <a:lstStyle/>
          <a:p>
            <a:pPr algn="l"/>
            <a:r>
              <a:rPr sz="1400" b="0" i="0">
                <a:solidFill>
                  <a:srgbClr val="404040"/>
                </a:solidFill>
              </a:rPr>
              <a:t>IDE, Git-Strategie, CI/CD</a:t>
            </a:r>
          </a:p>
        </p:txBody>
      </p:sp>
      <p:sp>
        <p:nvSpPr>
          <p:cNvPr id="16" name="Rectangle 15"/>
          <p:cNvSpPr/>
          <p:nvPr/>
        </p:nvSpPr>
        <p:spPr>
          <a:xfrm>
            <a:off x="8046720" y="1920240"/>
            <a:ext cx="3931920" cy="548640"/>
          </a:xfrm>
          <a:prstGeom prst="rect">
            <a:avLst/>
          </a:prstGeom>
          <a:solidFill>
            <a:srgbClr val="E8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60" y="1956816"/>
            <a:ext cx="3749039" cy="475488"/>
          </a:xfrm>
          <a:prstGeom prst="rect">
            <a:avLst/>
          </a:prstGeom>
          <a:noFill/>
        </p:spPr>
        <p:txBody>
          <a:bodyPr wrap="square">
            <a:spAutoFit/>
          </a:bodyPr>
          <a:lstStyle/>
          <a:p>
            <a:pPr algn="l"/>
            <a:r>
              <a:rPr sz="1400" b="0" i="0">
                <a:solidFill>
                  <a:srgbClr val="404040"/>
                </a:solidFill>
              </a:rPr>
              <a:t>Gemeinsame Codebasis</a:t>
            </a:r>
          </a:p>
        </p:txBody>
      </p:sp>
      <p:sp>
        <p:nvSpPr>
          <p:cNvPr id="18" name="Rectangle 17"/>
          <p:cNvSpPr/>
          <p:nvPr/>
        </p:nvSpPr>
        <p:spPr>
          <a:xfrm>
            <a:off x="274320" y="2487168"/>
            <a:ext cx="365760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2523744"/>
            <a:ext cx="3474720" cy="475488"/>
          </a:xfrm>
          <a:prstGeom prst="rect">
            <a:avLst/>
          </a:prstGeom>
          <a:noFill/>
        </p:spPr>
        <p:txBody>
          <a:bodyPr wrap="square">
            <a:spAutoFit/>
          </a:bodyPr>
          <a:lstStyle/>
          <a:p>
            <a:pPr algn="l"/>
            <a:r>
              <a:rPr sz="1400" b="0" i="0">
                <a:solidFill>
                  <a:srgbClr val="404040"/>
                </a:solidFill>
              </a:rPr>
              <a:t>Definition of Done</a:t>
            </a:r>
          </a:p>
        </p:txBody>
      </p:sp>
      <p:sp>
        <p:nvSpPr>
          <p:cNvPr id="20" name="Rectangle 19"/>
          <p:cNvSpPr/>
          <p:nvPr/>
        </p:nvSpPr>
        <p:spPr>
          <a:xfrm>
            <a:off x="3931920" y="2487168"/>
            <a:ext cx="411480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23359" y="2523744"/>
            <a:ext cx="3931920" cy="475488"/>
          </a:xfrm>
          <a:prstGeom prst="rect">
            <a:avLst/>
          </a:prstGeom>
          <a:noFill/>
        </p:spPr>
        <p:txBody>
          <a:bodyPr wrap="square">
            <a:spAutoFit/>
          </a:bodyPr>
          <a:lstStyle/>
          <a:p>
            <a:pPr algn="l"/>
            <a:r>
              <a:rPr sz="1400" b="0" i="0">
                <a:solidFill>
                  <a:srgbClr val="404040"/>
                </a:solidFill>
              </a:rPr>
              <a:t>Einheitliche Qualitaetsstandards</a:t>
            </a:r>
          </a:p>
        </p:txBody>
      </p:sp>
      <p:sp>
        <p:nvSpPr>
          <p:cNvPr id="22" name="Rectangle 21"/>
          <p:cNvSpPr/>
          <p:nvPr/>
        </p:nvSpPr>
        <p:spPr>
          <a:xfrm>
            <a:off x="8046720" y="2487168"/>
            <a:ext cx="393192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38160" y="2523744"/>
            <a:ext cx="3749039" cy="475488"/>
          </a:xfrm>
          <a:prstGeom prst="rect">
            <a:avLst/>
          </a:prstGeom>
          <a:noFill/>
        </p:spPr>
        <p:txBody>
          <a:bodyPr wrap="square">
            <a:spAutoFit/>
          </a:bodyPr>
          <a:lstStyle/>
          <a:p>
            <a:pPr algn="l"/>
            <a:r>
              <a:rPr sz="1400" b="0" i="0">
                <a:solidFill>
                  <a:srgbClr val="404040"/>
                </a:solidFill>
              </a:rPr>
              <a:t>Konsistente Produktqualitaet</a:t>
            </a:r>
          </a:p>
        </p:txBody>
      </p:sp>
      <p:sp>
        <p:nvSpPr>
          <p:cNvPr id="24" name="Rectangle 23"/>
          <p:cNvSpPr/>
          <p:nvPr/>
        </p:nvSpPr>
        <p:spPr>
          <a:xfrm>
            <a:off x="274320" y="3054096"/>
            <a:ext cx="3657600" cy="548640"/>
          </a:xfrm>
          <a:prstGeom prst="rect">
            <a:avLst/>
          </a:prstGeom>
          <a:solidFill>
            <a:srgbClr val="E8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3090672"/>
            <a:ext cx="3474720" cy="475488"/>
          </a:xfrm>
          <a:prstGeom prst="rect">
            <a:avLst/>
          </a:prstGeom>
          <a:noFill/>
        </p:spPr>
        <p:txBody>
          <a:bodyPr wrap="square">
            <a:spAutoFit/>
          </a:bodyPr>
          <a:lstStyle/>
          <a:p>
            <a:pPr algn="l"/>
            <a:r>
              <a:rPr sz="1400" b="0" i="0">
                <a:solidFill>
                  <a:srgbClr val="404040"/>
                </a:solidFill>
              </a:rPr>
              <a:t>Team-uebergreifende Komm.</a:t>
            </a:r>
          </a:p>
        </p:txBody>
      </p:sp>
      <p:sp>
        <p:nvSpPr>
          <p:cNvPr id="26" name="Rectangle 25"/>
          <p:cNvSpPr/>
          <p:nvPr/>
        </p:nvSpPr>
        <p:spPr>
          <a:xfrm>
            <a:off x="3931920" y="3054096"/>
            <a:ext cx="4114800" cy="548640"/>
          </a:xfrm>
          <a:prstGeom prst="rect">
            <a:avLst/>
          </a:prstGeom>
          <a:solidFill>
            <a:srgbClr val="E8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23359" y="3090672"/>
            <a:ext cx="3931920" cy="475488"/>
          </a:xfrm>
          <a:prstGeom prst="rect">
            <a:avLst/>
          </a:prstGeom>
          <a:noFill/>
        </p:spPr>
        <p:txBody>
          <a:bodyPr wrap="square">
            <a:spAutoFit/>
          </a:bodyPr>
          <a:lstStyle/>
          <a:p>
            <a:pPr algn="l"/>
            <a:r>
              <a:rPr sz="1400" b="0" i="0">
                <a:solidFill>
                  <a:srgbClr val="404040"/>
                </a:solidFill>
              </a:rPr>
              <a:t>Scrum of Scrums</a:t>
            </a:r>
          </a:p>
        </p:txBody>
      </p:sp>
      <p:sp>
        <p:nvSpPr>
          <p:cNvPr id="28" name="Rectangle 27"/>
          <p:cNvSpPr/>
          <p:nvPr/>
        </p:nvSpPr>
        <p:spPr>
          <a:xfrm>
            <a:off x="8046720" y="3054096"/>
            <a:ext cx="3931920" cy="548640"/>
          </a:xfrm>
          <a:prstGeom prst="rect">
            <a:avLst/>
          </a:prstGeom>
          <a:solidFill>
            <a:srgbClr val="E8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38160" y="3090672"/>
            <a:ext cx="3749039" cy="475488"/>
          </a:xfrm>
          <a:prstGeom prst="rect">
            <a:avLst/>
          </a:prstGeom>
          <a:noFill/>
        </p:spPr>
        <p:txBody>
          <a:bodyPr wrap="square">
            <a:spAutoFit/>
          </a:bodyPr>
          <a:lstStyle/>
          <a:p>
            <a:pPr algn="l"/>
            <a:r>
              <a:rPr sz="1400" b="0" i="0">
                <a:solidFill>
                  <a:srgbClr val="404040"/>
                </a:solidFill>
              </a:rPr>
              <a:t>Abhaengigkeiten koordinieren</a:t>
            </a:r>
          </a:p>
        </p:txBody>
      </p:sp>
      <p:sp>
        <p:nvSpPr>
          <p:cNvPr id="30" name="Rectangle 29"/>
          <p:cNvSpPr/>
          <p:nvPr/>
        </p:nvSpPr>
        <p:spPr>
          <a:xfrm>
            <a:off x="274320" y="3621024"/>
            <a:ext cx="365760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3657600"/>
            <a:ext cx="3474720" cy="475488"/>
          </a:xfrm>
          <a:prstGeom prst="rect">
            <a:avLst/>
          </a:prstGeom>
          <a:noFill/>
        </p:spPr>
        <p:txBody>
          <a:bodyPr wrap="square">
            <a:spAutoFit/>
          </a:bodyPr>
          <a:lstStyle/>
          <a:p>
            <a:pPr algn="l"/>
            <a:r>
              <a:rPr sz="1400" b="0" i="0">
                <a:solidFill>
                  <a:srgbClr val="404040"/>
                </a:solidFill>
              </a:rPr>
              <a:t>Architektur</a:t>
            </a:r>
          </a:p>
        </p:txBody>
      </p:sp>
      <p:sp>
        <p:nvSpPr>
          <p:cNvPr id="32" name="Rectangle 31"/>
          <p:cNvSpPr/>
          <p:nvPr/>
        </p:nvSpPr>
        <p:spPr>
          <a:xfrm>
            <a:off x="3931920" y="3621024"/>
            <a:ext cx="411480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023359" y="3657600"/>
            <a:ext cx="3931920" cy="475488"/>
          </a:xfrm>
          <a:prstGeom prst="rect">
            <a:avLst/>
          </a:prstGeom>
          <a:noFill/>
        </p:spPr>
        <p:txBody>
          <a:bodyPr wrap="square">
            <a:spAutoFit/>
          </a:bodyPr>
          <a:lstStyle/>
          <a:p>
            <a:pPr algn="l"/>
            <a:r>
              <a:rPr sz="1400" b="0" i="0">
                <a:solidFill>
                  <a:srgbClr val="404040"/>
                </a:solidFill>
              </a:rPr>
              <a:t>Gemeinsame Standards &amp; Patterns</a:t>
            </a:r>
          </a:p>
        </p:txBody>
      </p:sp>
      <p:sp>
        <p:nvSpPr>
          <p:cNvPr id="34" name="Rectangle 33"/>
          <p:cNvSpPr/>
          <p:nvPr/>
        </p:nvSpPr>
        <p:spPr>
          <a:xfrm>
            <a:off x="8046720" y="3621024"/>
            <a:ext cx="393192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38160" y="3657600"/>
            <a:ext cx="3749039" cy="475488"/>
          </a:xfrm>
          <a:prstGeom prst="rect">
            <a:avLst/>
          </a:prstGeom>
          <a:noFill/>
        </p:spPr>
        <p:txBody>
          <a:bodyPr wrap="square">
            <a:spAutoFit/>
          </a:bodyPr>
          <a:lstStyle/>
          <a:p>
            <a:pPr algn="l"/>
            <a:r>
              <a:rPr sz="1400" b="0" i="0">
                <a:solidFill>
                  <a:srgbClr val="404040"/>
                </a:solidFill>
              </a:rPr>
              <a:t>Integrierbakeit &amp; Wartbarkeit</a:t>
            </a:r>
          </a:p>
        </p:txBody>
      </p:sp>
      <p:sp>
        <p:nvSpPr>
          <p:cNvPr id="36" name="Rectangle 35"/>
          <p:cNvSpPr/>
          <p:nvPr/>
        </p:nvSpPr>
        <p:spPr>
          <a:xfrm>
            <a:off x="274320" y="4187952"/>
            <a:ext cx="3657600" cy="548640"/>
          </a:xfrm>
          <a:prstGeom prst="rect">
            <a:avLst/>
          </a:prstGeom>
          <a:solidFill>
            <a:srgbClr val="E8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4224528"/>
            <a:ext cx="3474720" cy="475488"/>
          </a:xfrm>
          <a:prstGeom prst="rect">
            <a:avLst/>
          </a:prstGeom>
          <a:noFill/>
        </p:spPr>
        <p:txBody>
          <a:bodyPr wrap="square">
            <a:spAutoFit/>
          </a:bodyPr>
          <a:lstStyle/>
          <a:p>
            <a:pPr algn="l"/>
            <a:r>
              <a:rPr sz="1400" b="0" i="0">
                <a:solidFill>
                  <a:srgbClr val="404040"/>
                </a:solidFill>
              </a:rPr>
              <a:t>Releaseplanung</a:t>
            </a:r>
          </a:p>
        </p:txBody>
      </p:sp>
      <p:sp>
        <p:nvSpPr>
          <p:cNvPr id="38" name="Rectangle 37"/>
          <p:cNvSpPr/>
          <p:nvPr/>
        </p:nvSpPr>
        <p:spPr>
          <a:xfrm>
            <a:off x="3931920" y="4187952"/>
            <a:ext cx="4114800" cy="548640"/>
          </a:xfrm>
          <a:prstGeom prst="rect">
            <a:avLst/>
          </a:prstGeom>
          <a:solidFill>
            <a:srgbClr val="E8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023359" y="4224528"/>
            <a:ext cx="3931920" cy="475488"/>
          </a:xfrm>
          <a:prstGeom prst="rect">
            <a:avLst/>
          </a:prstGeom>
          <a:noFill/>
        </p:spPr>
        <p:txBody>
          <a:bodyPr wrap="square">
            <a:spAutoFit/>
          </a:bodyPr>
          <a:lstStyle/>
          <a:p>
            <a:pPr algn="l"/>
            <a:r>
              <a:rPr sz="1400" b="0" i="0">
                <a:solidFill>
                  <a:srgbClr val="404040"/>
                </a:solidFill>
              </a:rPr>
              <a:t>Gemeinsame Sprint-Takte</a:t>
            </a:r>
          </a:p>
        </p:txBody>
      </p:sp>
      <p:sp>
        <p:nvSpPr>
          <p:cNvPr id="40" name="Rectangle 39"/>
          <p:cNvSpPr/>
          <p:nvPr/>
        </p:nvSpPr>
        <p:spPr>
          <a:xfrm>
            <a:off x="8046720" y="4187952"/>
            <a:ext cx="3931920" cy="548640"/>
          </a:xfrm>
          <a:prstGeom prst="rect">
            <a:avLst/>
          </a:prstGeom>
          <a:solidFill>
            <a:srgbClr val="E8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38160" y="4224528"/>
            <a:ext cx="3749039" cy="475488"/>
          </a:xfrm>
          <a:prstGeom prst="rect">
            <a:avLst/>
          </a:prstGeom>
          <a:noFill/>
        </p:spPr>
        <p:txBody>
          <a:bodyPr wrap="square">
            <a:spAutoFit/>
          </a:bodyPr>
          <a:lstStyle/>
          <a:p>
            <a:pPr algn="l"/>
            <a:r>
              <a:rPr sz="1400" b="0" i="0">
                <a:solidFill>
                  <a:srgbClr val="404040"/>
                </a:solidFill>
              </a:rPr>
              <a:t>Koordiniertes Ausliefern</a:t>
            </a:r>
          </a:p>
        </p:txBody>
      </p:sp>
      <p:sp>
        <p:nvSpPr>
          <p:cNvPr id="42" name="Rectangle 41"/>
          <p:cNvSpPr/>
          <p:nvPr/>
        </p:nvSpPr>
        <p:spPr>
          <a:xfrm>
            <a:off x="274320" y="4754880"/>
            <a:ext cx="365760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65760" y="4791456"/>
            <a:ext cx="3474720" cy="475488"/>
          </a:xfrm>
          <a:prstGeom prst="rect">
            <a:avLst/>
          </a:prstGeom>
          <a:noFill/>
        </p:spPr>
        <p:txBody>
          <a:bodyPr wrap="square">
            <a:spAutoFit/>
          </a:bodyPr>
          <a:lstStyle/>
          <a:p>
            <a:pPr algn="l"/>
            <a:r>
              <a:rPr sz="1400" b="0" i="0">
                <a:solidFill>
                  <a:srgbClr val="404040"/>
                </a:solidFill>
              </a:rPr>
              <a:t>Security &amp; Compliance</a:t>
            </a:r>
          </a:p>
        </p:txBody>
      </p:sp>
      <p:sp>
        <p:nvSpPr>
          <p:cNvPr id="44" name="Rectangle 43"/>
          <p:cNvSpPr/>
          <p:nvPr/>
        </p:nvSpPr>
        <p:spPr>
          <a:xfrm>
            <a:off x="3931920" y="4754880"/>
            <a:ext cx="411480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023359" y="4791456"/>
            <a:ext cx="3931920" cy="475488"/>
          </a:xfrm>
          <a:prstGeom prst="rect">
            <a:avLst/>
          </a:prstGeom>
          <a:noFill/>
        </p:spPr>
        <p:txBody>
          <a:bodyPr wrap="square">
            <a:spAutoFit/>
          </a:bodyPr>
          <a:lstStyle/>
          <a:p>
            <a:pPr algn="l"/>
            <a:r>
              <a:rPr sz="1400" b="0" i="0">
                <a:solidFill>
                  <a:srgbClr val="404040"/>
                </a:solidFill>
              </a:rPr>
              <a:t>Datenschutz, Lizenzrichtlinien</a:t>
            </a:r>
          </a:p>
        </p:txBody>
      </p:sp>
      <p:sp>
        <p:nvSpPr>
          <p:cNvPr id="46" name="Rectangle 45"/>
          <p:cNvSpPr/>
          <p:nvPr/>
        </p:nvSpPr>
        <p:spPr>
          <a:xfrm>
            <a:off x="8046720" y="4754880"/>
            <a:ext cx="393192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138160" y="4791456"/>
            <a:ext cx="3749039" cy="475488"/>
          </a:xfrm>
          <a:prstGeom prst="rect">
            <a:avLst/>
          </a:prstGeom>
          <a:noFill/>
        </p:spPr>
        <p:txBody>
          <a:bodyPr wrap="square">
            <a:spAutoFit/>
          </a:bodyPr>
          <a:lstStyle/>
          <a:p>
            <a:pPr algn="l"/>
            <a:r>
              <a:rPr sz="1400" b="0" i="0">
                <a:solidFill>
                  <a:srgbClr val="404040"/>
                </a:solidFill>
              </a:rPr>
              <a:t>Rechtliche Sicherheit</a:t>
            </a:r>
          </a:p>
        </p:txBody>
      </p:sp>
      <p:sp>
        <p:nvSpPr>
          <p:cNvPr id="48" name="TextBox 47"/>
          <p:cNvSpPr txBox="1"/>
          <p:nvPr/>
        </p:nvSpPr>
        <p:spPr>
          <a:xfrm>
            <a:off x="365760" y="5943600"/>
            <a:ext cx="11430000" cy="822960"/>
          </a:xfrm>
          <a:prstGeom prst="rect">
            <a:avLst/>
          </a:prstGeom>
          <a:noFill/>
        </p:spPr>
        <p:txBody>
          <a:bodyPr wrap="square">
            <a:spAutoFit/>
          </a:bodyPr>
          <a:lstStyle/>
          <a:p>
            <a:pPr algn="l"/>
            <a:r>
              <a:rPr sz="1200" b="0" i="1">
                <a:solidFill>
                  <a:srgbClr val="808080"/>
                </a:solidFill>
              </a:rPr>
              <a:t>Sprechertext: In diesen Bereichen sind uebergreifende Standards notwendig. Sie reduzieren Reibungsverluste und sorgen fuer eine gemeinsame Basis.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720"/>
            <a:ext cx="12188952" cy="6400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82880"/>
            <a:ext cx="11430000" cy="868680"/>
          </a:xfrm>
          <a:prstGeom prst="rect">
            <a:avLst/>
          </a:prstGeom>
          <a:noFill/>
        </p:spPr>
        <p:txBody>
          <a:bodyPr wrap="square">
            <a:spAutoFit/>
          </a:bodyPr>
          <a:lstStyle/>
          <a:p>
            <a:pPr algn="l"/>
            <a:r>
              <a:rPr sz="2800" b="1" i="0">
                <a:solidFill>
                  <a:srgbClr val="FFFFFF"/>
                </a:solidFill>
              </a:rPr>
              <a:t>Drei-Ebenen-Modell der Selbstorganisation</a:t>
            </a:r>
          </a:p>
        </p:txBody>
      </p:sp>
      <p:sp>
        <p:nvSpPr>
          <p:cNvPr id="6" name="Rectangle 5"/>
          <p:cNvSpPr/>
          <p:nvPr/>
        </p:nvSpPr>
        <p:spPr>
          <a:xfrm>
            <a:off x="4722876" y="1463040"/>
            <a:ext cx="2743200" cy="128016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05756" y="1554480"/>
            <a:ext cx="2377440" cy="457200"/>
          </a:xfrm>
          <a:prstGeom prst="rect">
            <a:avLst/>
          </a:prstGeom>
          <a:noFill/>
        </p:spPr>
        <p:txBody>
          <a:bodyPr wrap="square">
            <a:spAutoFit/>
          </a:bodyPr>
          <a:lstStyle/>
          <a:p>
            <a:pPr algn="ctr"/>
            <a:r>
              <a:rPr sz="1900" b="1" i="0">
                <a:solidFill>
                  <a:srgbClr val="FFFFFF"/>
                </a:solidFill>
              </a:rPr>
              <a:t>Ebene 1: Organisation</a:t>
            </a:r>
          </a:p>
        </p:txBody>
      </p:sp>
      <p:sp>
        <p:nvSpPr>
          <p:cNvPr id="8" name="TextBox 7"/>
          <p:cNvSpPr txBox="1"/>
          <p:nvPr/>
        </p:nvSpPr>
        <p:spPr>
          <a:xfrm>
            <a:off x="4905756" y="2011680"/>
            <a:ext cx="2377440" cy="594360"/>
          </a:xfrm>
          <a:prstGeom prst="rect">
            <a:avLst/>
          </a:prstGeom>
          <a:noFill/>
        </p:spPr>
        <p:txBody>
          <a:bodyPr wrap="square">
            <a:spAutoFit/>
          </a:bodyPr>
          <a:lstStyle/>
          <a:p>
            <a:pPr algn="ctr"/>
            <a:r>
              <a:rPr sz="1500" b="0" i="0">
                <a:solidFill>
                  <a:srgbClr val="FFFFFF"/>
                </a:solidFill>
              </a:rPr>
              <a:t>Strategische Leitplanken, Unternehmensziele, uebergeordnete Richtlinien</a:t>
            </a:r>
          </a:p>
        </p:txBody>
      </p:sp>
      <p:sp>
        <p:nvSpPr>
          <p:cNvPr id="9" name="Rectangle 8"/>
          <p:cNvSpPr/>
          <p:nvPr/>
        </p:nvSpPr>
        <p:spPr>
          <a:xfrm>
            <a:off x="3579876" y="3017520"/>
            <a:ext cx="5029200" cy="128016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62756" y="3108960"/>
            <a:ext cx="4663440" cy="457200"/>
          </a:xfrm>
          <a:prstGeom prst="rect">
            <a:avLst/>
          </a:prstGeom>
          <a:noFill/>
        </p:spPr>
        <p:txBody>
          <a:bodyPr wrap="square">
            <a:spAutoFit/>
          </a:bodyPr>
          <a:lstStyle/>
          <a:p>
            <a:pPr algn="ctr"/>
            <a:r>
              <a:rPr sz="1900" b="1" i="0">
                <a:solidFill>
                  <a:srgbClr val="FFFFFF"/>
                </a:solidFill>
              </a:rPr>
              <a:t>Ebene 2: Bereichs- / teamuebergreifend</a:t>
            </a:r>
          </a:p>
        </p:txBody>
      </p:sp>
      <p:sp>
        <p:nvSpPr>
          <p:cNvPr id="11" name="TextBox 10"/>
          <p:cNvSpPr txBox="1"/>
          <p:nvPr/>
        </p:nvSpPr>
        <p:spPr>
          <a:xfrm>
            <a:off x="3762756" y="3566160"/>
            <a:ext cx="4663440" cy="594360"/>
          </a:xfrm>
          <a:prstGeom prst="rect">
            <a:avLst/>
          </a:prstGeom>
          <a:noFill/>
        </p:spPr>
        <p:txBody>
          <a:bodyPr wrap="square">
            <a:spAutoFit/>
          </a:bodyPr>
          <a:lstStyle/>
          <a:p>
            <a:pPr algn="ctr"/>
            <a:r>
              <a:rPr sz="1500" b="0" i="0">
                <a:solidFill>
                  <a:srgbClr val="FFFFFF"/>
                </a:solidFill>
              </a:rPr>
              <a:t>Gemeinsame Standards, Koordinationsformate, Architektur, Tools</a:t>
            </a:r>
          </a:p>
        </p:txBody>
      </p:sp>
      <p:sp>
        <p:nvSpPr>
          <p:cNvPr id="12" name="Rectangle 11"/>
          <p:cNvSpPr/>
          <p:nvPr/>
        </p:nvSpPr>
        <p:spPr>
          <a:xfrm>
            <a:off x="2436876" y="4572000"/>
            <a:ext cx="7315200" cy="1280160"/>
          </a:xfrm>
          <a:prstGeom prst="rect">
            <a:avLst/>
          </a:prstGeom>
          <a:solidFill>
            <a:srgbClr val="3886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19756" y="4663440"/>
            <a:ext cx="6949440" cy="457200"/>
          </a:xfrm>
          <a:prstGeom prst="rect">
            <a:avLst/>
          </a:prstGeom>
          <a:noFill/>
        </p:spPr>
        <p:txBody>
          <a:bodyPr wrap="square">
            <a:spAutoFit/>
          </a:bodyPr>
          <a:lstStyle/>
          <a:p>
            <a:pPr algn="ctr"/>
            <a:r>
              <a:rPr sz="1900" b="1" i="0">
                <a:solidFill>
                  <a:srgbClr val="FFFFFF"/>
                </a:solidFill>
              </a:rPr>
              <a:t>Ebene 3: Team</a:t>
            </a:r>
          </a:p>
        </p:txBody>
      </p:sp>
      <p:sp>
        <p:nvSpPr>
          <p:cNvPr id="14" name="TextBox 13"/>
          <p:cNvSpPr txBox="1"/>
          <p:nvPr/>
        </p:nvSpPr>
        <p:spPr>
          <a:xfrm>
            <a:off x="2619756" y="5120640"/>
            <a:ext cx="6949440" cy="594360"/>
          </a:xfrm>
          <a:prstGeom prst="rect">
            <a:avLst/>
          </a:prstGeom>
          <a:noFill/>
        </p:spPr>
        <p:txBody>
          <a:bodyPr wrap="square">
            <a:spAutoFit/>
          </a:bodyPr>
          <a:lstStyle/>
          <a:p>
            <a:pPr algn="ctr"/>
            <a:r>
              <a:rPr sz="1500" b="0" i="0">
                <a:solidFill>
                  <a:srgbClr val="FFFFFF"/>
                </a:solidFill>
              </a:rPr>
              <a:t>Volle Autonomie: Aufgabenverteilung, Zusammenarbeit, Inspect &amp; Adapt</a:t>
            </a:r>
          </a:p>
        </p:txBody>
      </p:sp>
      <p:sp>
        <p:nvSpPr>
          <p:cNvPr id="15" name="TextBox 14"/>
          <p:cNvSpPr txBox="1"/>
          <p:nvPr/>
        </p:nvSpPr>
        <p:spPr>
          <a:xfrm>
            <a:off x="365760" y="5943600"/>
            <a:ext cx="11430000" cy="822960"/>
          </a:xfrm>
          <a:prstGeom prst="rect">
            <a:avLst/>
          </a:prstGeom>
          <a:noFill/>
        </p:spPr>
        <p:txBody>
          <a:bodyPr wrap="square">
            <a:spAutoFit/>
          </a:bodyPr>
          <a:lstStyle/>
          <a:p>
            <a:pPr algn="l"/>
            <a:r>
              <a:rPr sz="1200" b="0" i="1">
                <a:solidFill>
                  <a:srgbClr val="808080"/>
                </a:solidFill>
              </a:rPr>
              <a:t>Sprechertext: Selbstorganisation auf drei Ebenen: jede hat eigenen Gestaltungsspielraum und Verantwortung. Das schafft Klarheit.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720"/>
            <a:ext cx="12188952" cy="6400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82880"/>
            <a:ext cx="11430000" cy="868680"/>
          </a:xfrm>
          <a:prstGeom prst="rect">
            <a:avLst/>
          </a:prstGeom>
          <a:noFill/>
        </p:spPr>
        <p:txBody>
          <a:bodyPr wrap="square">
            <a:spAutoFit/>
          </a:bodyPr>
          <a:lstStyle/>
          <a:p>
            <a:pPr algn="l"/>
            <a:r>
              <a:rPr sz="2800" b="1" i="0">
                <a:solidFill>
                  <a:srgbClr val="FFFFFF"/>
                </a:solidFill>
              </a:rPr>
              <a:t>Die Fussball-Analogie</a:t>
            </a:r>
          </a:p>
        </p:txBody>
      </p:sp>
      <p:sp>
        <p:nvSpPr>
          <p:cNvPr id="6" name="Rectangle 5"/>
          <p:cNvSpPr/>
          <p:nvPr/>
        </p:nvSpPr>
        <p:spPr>
          <a:xfrm>
            <a:off x="457200" y="1463040"/>
            <a:ext cx="5029200" cy="365760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54480"/>
            <a:ext cx="4663440" cy="502920"/>
          </a:xfrm>
          <a:prstGeom prst="rect">
            <a:avLst/>
          </a:prstGeom>
          <a:noFill/>
        </p:spPr>
        <p:txBody>
          <a:bodyPr wrap="square">
            <a:spAutoFit/>
          </a:bodyPr>
          <a:lstStyle/>
          <a:p>
            <a:pPr algn="l"/>
            <a:r>
              <a:rPr sz="1900" b="1" i="0">
                <a:solidFill>
                  <a:srgbClr val="FFC000"/>
                </a:solidFill>
              </a:rPr>
              <a:t>Der Verein gibt vor:</a:t>
            </a:r>
          </a:p>
        </p:txBody>
      </p:sp>
      <p:sp>
        <p:nvSpPr>
          <p:cNvPr id="8" name="TextBox 7"/>
          <p:cNvSpPr txBox="1"/>
          <p:nvPr/>
        </p:nvSpPr>
        <p:spPr>
          <a:xfrm>
            <a:off x="822960" y="2148840"/>
            <a:ext cx="4389120" cy="457200"/>
          </a:xfrm>
          <a:prstGeom prst="rect">
            <a:avLst/>
          </a:prstGeom>
          <a:noFill/>
        </p:spPr>
        <p:txBody>
          <a:bodyPr wrap="square">
            <a:spAutoFit/>
          </a:bodyPr>
          <a:lstStyle/>
          <a:p>
            <a:pPr algn="l"/>
            <a:r>
              <a:rPr sz="1700" b="0" i="0">
                <a:solidFill>
                  <a:srgbClr val="FFFFFF"/>
                </a:solidFill>
              </a:rPr>
              <a:t>Gemeinsame Regeln</a:t>
            </a:r>
          </a:p>
        </p:txBody>
      </p:sp>
      <p:sp>
        <p:nvSpPr>
          <p:cNvPr id="9" name="TextBox 8"/>
          <p:cNvSpPr txBox="1"/>
          <p:nvPr/>
        </p:nvSpPr>
        <p:spPr>
          <a:xfrm>
            <a:off x="822960" y="2651760"/>
            <a:ext cx="4389120" cy="457200"/>
          </a:xfrm>
          <a:prstGeom prst="rect">
            <a:avLst/>
          </a:prstGeom>
          <a:noFill/>
        </p:spPr>
        <p:txBody>
          <a:bodyPr wrap="square">
            <a:spAutoFit/>
          </a:bodyPr>
          <a:lstStyle/>
          <a:p>
            <a:pPr algn="l"/>
            <a:r>
              <a:rPr sz="1700" b="0" i="0">
                <a:solidFill>
                  <a:srgbClr val="FFFFFF"/>
                </a:solidFill>
              </a:rPr>
              <a:t>Einheitliche Taktiksprache</a:t>
            </a:r>
          </a:p>
        </p:txBody>
      </p:sp>
      <p:sp>
        <p:nvSpPr>
          <p:cNvPr id="10" name="TextBox 9"/>
          <p:cNvSpPr txBox="1"/>
          <p:nvPr/>
        </p:nvSpPr>
        <p:spPr>
          <a:xfrm>
            <a:off x="822960" y="3154680"/>
            <a:ext cx="4389120" cy="457200"/>
          </a:xfrm>
          <a:prstGeom prst="rect">
            <a:avLst/>
          </a:prstGeom>
          <a:noFill/>
        </p:spPr>
        <p:txBody>
          <a:bodyPr wrap="square">
            <a:spAutoFit/>
          </a:bodyPr>
          <a:lstStyle/>
          <a:p>
            <a:pPr algn="l"/>
            <a:r>
              <a:rPr sz="1700" b="0" i="0">
                <a:solidFill>
                  <a:srgbClr val="FFFFFF"/>
                </a:solidFill>
              </a:rPr>
              <a:t>Gleiche Ausruestung</a:t>
            </a:r>
          </a:p>
        </p:txBody>
      </p:sp>
      <p:sp>
        <p:nvSpPr>
          <p:cNvPr id="11" name="TextBox 10"/>
          <p:cNvSpPr txBox="1"/>
          <p:nvPr/>
        </p:nvSpPr>
        <p:spPr>
          <a:xfrm>
            <a:off x="822960" y="3749039"/>
            <a:ext cx="4389120" cy="457200"/>
          </a:xfrm>
          <a:prstGeom prst="rect">
            <a:avLst/>
          </a:prstGeom>
          <a:noFill/>
        </p:spPr>
        <p:txBody>
          <a:bodyPr wrap="square">
            <a:spAutoFit/>
          </a:bodyPr>
          <a:lstStyle/>
          <a:p>
            <a:pPr algn="l"/>
            <a:r>
              <a:rPr sz="1700" b="0" i="0">
                <a:solidFill>
                  <a:srgbClr val="FFFFFF"/>
                </a:solidFill>
              </a:rPr>
              <a:t>&gt; Gemeinsamer Rahmen</a:t>
            </a:r>
          </a:p>
        </p:txBody>
      </p:sp>
      <p:sp>
        <p:nvSpPr>
          <p:cNvPr id="12" name="Rectangle 11"/>
          <p:cNvSpPr/>
          <p:nvPr/>
        </p:nvSpPr>
        <p:spPr>
          <a:xfrm>
            <a:off x="6675120" y="1463040"/>
            <a:ext cx="5029200" cy="3657600"/>
          </a:xfrm>
          <a:prstGeom prst="rect">
            <a:avLst/>
          </a:prstGeom>
          <a:solidFill>
            <a:srgbClr val="3886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0" y="1554480"/>
            <a:ext cx="4663440" cy="502920"/>
          </a:xfrm>
          <a:prstGeom prst="rect">
            <a:avLst/>
          </a:prstGeom>
          <a:noFill/>
        </p:spPr>
        <p:txBody>
          <a:bodyPr wrap="square">
            <a:spAutoFit/>
          </a:bodyPr>
          <a:lstStyle/>
          <a:p>
            <a:pPr algn="l"/>
            <a:r>
              <a:rPr sz="1900" b="1" i="0">
                <a:solidFill>
                  <a:srgbClr val="FFFFFF"/>
                </a:solidFill>
              </a:rPr>
              <a:t>Das Team entscheidet:</a:t>
            </a:r>
          </a:p>
        </p:txBody>
      </p:sp>
      <p:sp>
        <p:nvSpPr>
          <p:cNvPr id="14" name="TextBox 13"/>
          <p:cNvSpPr txBox="1"/>
          <p:nvPr/>
        </p:nvSpPr>
        <p:spPr>
          <a:xfrm>
            <a:off x="6858000" y="2148840"/>
            <a:ext cx="4389120" cy="457200"/>
          </a:xfrm>
          <a:prstGeom prst="rect">
            <a:avLst/>
          </a:prstGeom>
          <a:noFill/>
        </p:spPr>
        <p:txBody>
          <a:bodyPr wrap="square">
            <a:spAutoFit/>
          </a:bodyPr>
          <a:lstStyle/>
          <a:p>
            <a:pPr algn="l"/>
            <a:r>
              <a:rPr sz="1700" b="0" i="0">
                <a:solidFill>
                  <a:srgbClr val="FFFFFF"/>
                </a:solidFill>
              </a:rPr>
              <a:t>Spielweise auf dem Platz</a:t>
            </a:r>
          </a:p>
        </p:txBody>
      </p:sp>
      <p:sp>
        <p:nvSpPr>
          <p:cNvPr id="15" name="TextBox 14"/>
          <p:cNvSpPr txBox="1"/>
          <p:nvPr/>
        </p:nvSpPr>
        <p:spPr>
          <a:xfrm>
            <a:off x="6858000" y="2651760"/>
            <a:ext cx="4389120" cy="457200"/>
          </a:xfrm>
          <a:prstGeom prst="rect">
            <a:avLst/>
          </a:prstGeom>
          <a:noFill/>
        </p:spPr>
        <p:txBody>
          <a:bodyPr wrap="square">
            <a:spAutoFit/>
          </a:bodyPr>
          <a:lstStyle/>
          <a:p>
            <a:pPr algn="l"/>
            <a:r>
              <a:rPr sz="1700" b="0" i="0">
                <a:solidFill>
                  <a:srgbClr val="FFFFFF"/>
                </a:solidFill>
              </a:rPr>
              <a:t>Rollenverteilung</a:t>
            </a:r>
          </a:p>
        </p:txBody>
      </p:sp>
      <p:sp>
        <p:nvSpPr>
          <p:cNvPr id="16" name="TextBox 15"/>
          <p:cNvSpPr txBox="1"/>
          <p:nvPr/>
        </p:nvSpPr>
        <p:spPr>
          <a:xfrm>
            <a:off x="6858000" y="3154680"/>
            <a:ext cx="4389120" cy="457200"/>
          </a:xfrm>
          <a:prstGeom prst="rect">
            <a:avLst/>
          </a:prstGeom>
          <a:noFill/>
        </p:spPr>
        <p:txBody>
          <a:bodyPr wrap="square">
            <a:spAutoFit/>
          </a:bodyPr>
          <a:lstStyle/>
          <a:p>
            <a:pPr algn="l"/>
            <a:r>
              <a:rPr sz="1700" b="0" i="0">
                <a:solidFill>
                  <a:srgbClr val="FFFFFF"/>
                </a:solidFill>
              </a:rPr>
              <a:t>Gemeinsame Taktik</a:t>
            </a:r>
          </a:p>
        </p:txBody>
      </p:sp>
      <p:sp>
        <p:nvSpPr>
          <p:cNvPr id="17" name="TextBox 16"/>
          <p:cNvSpPr txBox="1"/>
          <p:nvPr/>
        </p:nvSpPr>
        <p:spPr>
          <a:xfrm>
            <a:off x="6858000" y="3749039"/>
            <a:ext cx="4389120" cy="457200"/>
          </a:xfrm>
          <a:prstGeom prst="rect">
            <a:avLst/>
          </a:prstGeom>
          <a:noFill/>
        </p:spPr>
        <p:txBody>
          <a:bodyPr wrap="square">
            <a:spAutoFit/>
          </a:bodyPr>
          <a:lstStyle/>
          <a:p>
            <a:pPr algn="l"/>
            <a:r>
              <a:rPr sz="1700" b="0" i="0">
                <a:solidFill>
                  <a:srgbClr val="FFFFFF"/>
                </a:solidFill>
              </a:rPr>
              <a:t>&gt; Autonomie in der Umsetzung</a:t>
            </a:r>
          </a:p>
        </p:txBody>
      </p:sp>
      <p:sp>
        <p:nvSpPr>
          <p:cNvPr id="18" name="TextBox 17"/>
          <p:cNvSpPr txBox="1"/>
          <p:nvPr/>
        </p:nvSpPr>
        <p:spPr>
          <a:xfrm>
            <a:off x="5577840" y="2926080"/>
            <a:ext cx="1005840" cy="640080"/>
          </a:xfrm>
          <a:prstGeom prst="rect">
            <a:avLst/>
          </a:prstGeom>
          <a:noFill/>
        </p:spPr>
        <p:txBody>
          <a:bodyPr wrap="square">
            <a:spAutoFit/>
          </a:bodyPr>
          <a:lstStyle/>
          <a:p>
            <a:pPr algn="ctr"/>
            <a:r>
              <a:rPr sz="3000" b="1" i="0">
                <a:solidFill>
                  <a:srgbClr val="404040"/>
                </a:solidFill>
              </a:rPr>
              <a:t>&lt;-&gt;</a:t>
            </a:r>
          </a:p>
        </p:txBody>
      </p:sp>
      <p:sp>
        <p:nvSpPr>
          <p:cNvPr id="19" name="Rectangle 18"/>
          <p:cNvSpPr/>
          <p:nvPr/>
        </p:nvSpPr>
        <p:spPr>
          <a:xfrm>
            <a:off x="457200" y="5303520"/>
            <a:ext cx="11274552" cy="5029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340096"/>
            <a:ext cx="10881360" cy="429768"/>
          </a:xfrm>
          <a:prstGeom prst="rect">
            <a:avLst/>
          </a:prstGeom>
          <a:noFill/>
        </p:spPr>
        <p:txBody>
          <a:bodyPr wrap="square">
            <a:spAutoFit/>
          </a:bodyPr>
          <a:lstStyle/>
          <a:p>
            <a:pPr algn="ctr"/>
            <a:r>
              <a:rPr sz="1700" b="1" i="0">
                <a:solidFill>
                  <a:srgbClr val="FFFFFF"/>
                </a:solidFill>
              </a:rPr>
              <a:t>Genauso funktioniert Selbstorganisation im skalierten Scrum-Umfeld.</a:t>
            </a:r>
          </a:p>
        </p:txBody>
      </p:sp>
      <p:sp>
        <p:nvSpPr>
          <p:cNvPr id="21" name="TextBox 20"/>
          <p:cNvSpPr txBox="1"/>
          <p:nvPr/>
        </p:nvSpPr>
        <p:spPr>
          <a:xfrm>
            <a:off x="365760" y="5943600"/>
            <a:ext cx="11430000" cy="822960"/>
          </a:xfrm>
          <a:prstGeom prst="rect">
            <a:avLst/>
          </a:prstGeom>
          <a:noFill/>
        </p:spPr>
        <p:txBody>
          <a:bodyPr wrap="square">
            <a:spAutoFit/>
          </a:bodyPr>
          <a:lstStyle/>
          <a:p>
            <a:pPr algn="l"/>
            <a:r>
              <a:rPr sz="1200" b="0" i="1">
                <a:solidFill>
                  <a:srgbClr val="808080"/>
                </a:solidFill>
              </a:rPr>
              <a:t>Sprechertext: Der Verein definiert die gemeinsamen Regeln - innerhalb dieses Rahmens entscheidet jede Mannschaft selbst, wie sie spielt und wer welche Rolle uebernimmt.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720"/>
            <a:ext cx="12188952" cy="6400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82880"/>
            <a:ext cx="11430000" cy="868680"/>
          </a:xfrm>
          <a:prstGeom prst="rect">
            <a:avLst/>
          </a:prstGeom>
          <a:noFill/>
        </p:spPr>
        <p:txBody>
          <a:bodyPr wrap="square">
            <a:spAutoFit/>
          </a:bodyPr>
          <a:lstStyle/>
          <a:p>
            <a:pPr algn="l"/>
            <a:r>
              <a:rPr sz="2800" b="1" i="0">
                <a:solidFill>
                  <a:srgbClr val="FFFFFF"/>
                </a:solidFill>
              </a:rPr>
              <a:t>Die richtige Balance</a:t>
            </a:r>
          </a:p>
        </p:txBody>
      </p:sp>
      <p:sp>
        <p:nvSpPr>
          <p:cNvPr id="6" name="Rectangle 5"/>
          <p:cNvSpPr/>
          <p:nvPr/>
        </p:nvSpPr>
        <p:spPr>
          <a:xfrm>
            <a:off x="365760" y="1417320"/>
            <a:ext cx="3566160" cy="86868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444752"/>
            <a:ext cx="3383280" cy="795528"/>
          </a:xfrm>
          <a:prstGeom prst="rect">
            <a:avLst/>
          </a:prstGeom>
          <a:noFill/>
        </p:spPr>
        <p:txBody>
          <a:bodyPr wrap="square">
            <a:spAutoFit/>
          </a:bodyPr>
          <a:lstStyle/>
          <a:p>
            <a:pPr algn="ctr"/>
            <a:r>
              <a:rPr sz="1700" b="1" i="0">
                <a:solidFill>
                  <a:srgbClr val="FFFFFF"/>
                </a:solidFill>
              </a:rPr>
              <a:t>Zu wenig Selbstorganisation</a:t>
            </a:r>
          </a:p>
        </p:txBody>
      </p:sp>
      <p:sp>
        <p:nvSpPr>
          <p:cNvPr id="8" name="Rectangle 7"/>
          <p:cNvSpPr/>
          <p:nvPr/>
        </p:nvSpPr>
        <p:spPr>
          <a:xfrm>
            <a:off x="365760" y="2423160"/>
            <a:ext cx="3566160" cy="594360"/>
          </a:xfrm>
          <a:prstGeom prst="rect">
            <a:avLst/>
          </a:prstGeom>
          <a:solidFill>
            <a:srgbClr val="FF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496312"/>
            <a:ext cx="3383280" cy="457200"/>
          </a:xfrm>
          <a:prstGeom prst="rect">
            <a:avLst/>
          </a:prstGeom>
          <a:noFill/>
        </p:spPr>
        <p:txBody>
          <a:bodyPr wrap="square">
            <a:spAutoFit/>
          </a:bodyPr>
          <a:lstStyle/>
          <a:p>
            <a:pPr algn="l"/>
            <a:r>
              <a:rPr sz="1500" b="0" i="0">
                <a:solidFill>
                  <a:srgbClr val="404040"/>
                </a:solidFill>
              </a:rPr>
              <a:t>Team fuehrt nur aus</a:t>
            </a:r>
          </a:p>
        </p:txBody>
      </p:sp>
      <p:sp>
        <p:nvSpPr>
          <p:cNvPr id="10" name="Rectangle 9"/>
          <p:cNvSpPr/>
          <p:nvPr/>
        </p:nvSpPr>
        <p:spPr>
          <a:xfrm>
            <a:off x="365760" y="3081528"/>
            <a:ext cx="3566160" cy="594360"/>
          </a:xfrm>
          <a:prstGeom prst="rect">
            <a:avLst/>
          </a:prstGeom>
          <a:solidFill>
            <a:srgbClr val="FF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154680"/>
            <a:ext cx="3383280" cy="457200"/>
          </a:xfrm>
          <a:prstGeom prst="rect">
            <a:avLst/>
          </a:prstGeom>
          <a:noFill/>
        </p:spPr>
        <p:txBody>
          <a:bodyPr wrap="square">
            <a:spAutoFit/>
          </a:bodyPr>
          <a:lstStyle/>
          <a:p>
            <a:pPr algn="l"/>
            <a:r>
              <a:rPr sz="1500" b="0" i="0">
                <a:solidFill>
                  <a:srgbClr val="404040"/>
                </a:solidFill>
              </a:rPr>
              <a:t>Kreativitaet leidet</a:t>
            </a:r>
          </a:p>
        </p:txBody>
      </p:sp>
      <p:sp>
        <p:nvSpPr>
          <p:cNvPr id="12" name="Rectangle 11"/>
          <p:cNvSpPr/>
          <p:nvPr/>
        </p:nvSpPr>
        <p:spPr>
          <a:xfrm>
            <a:off x="365760" y="3739896"/>
            <a:ext cx="3566160" cy="594360"/>
          </a:xfrm>
          <a:prstGeom prst="rect">
            <a:avLst/>
          </a:prstGeom>
          <a:solidFill>
            <a:srgbClr val="FF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813048"/>
            <a:ext cx="3383280" cy="457200"/>
          </a:xfrm>
          <a:prstGeom prst="rect">
            <a:avLst/>
          </a:prstGeom>
          <a:noFill/>
        </p:spPr>
        <p:txBody>
          <a:bodyPr wrap="square">
            <a:spAutoFit/>
          </a:bodyPr>
          <a:lstStyle/>
          <a:p>
            <a:pPr algn="l"/>
            <a:r>
              <a:rPr sz="1500" b="0" i="0">
                <a:solidFill>
                  <a:srgbClr val="404040"/>
                </a:solidFill>
              </a:rPr>
              <a:t>Motivation sinkt</a:t>
            </a:r>
          </a:p>
        </p:txBody>
      </p:sp>
      <p:sp>
        <p:nvSpPr>
          <p:cNvPr id="14" name="Rectangle 13"/>
          <p:cNvSpPr/>
          <p:nvPr/>
        </p:nvSpPr>
        <p:spPr>
          <a:xfrm>
            <a:off x="365760" y="4398264"/>
            <a:ext cx="3566160" cy="594360"/>
          </a:xfrm>
          <a:prstGeom prst="rect">
            <a:avLst/>
          </a:prstGeom>
          <a:solidFill>
            <a:srgbClr val="FF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471416"/>
            <a:ext cx="3383280" cy="457200"/>
          </a:xfrm>
          <a:prstGeom prst="rect">
            <a:avLst/>
          </a:prstGeom>
          <a:noFill/>
        </p:spPr>
        <p:txBody>
          <a:bodyPr wrap="square">
            <a:spAutoFit/>
          </a:bodyPr>
          <a:lstStyle/>
          <a:p>
            <a:pPr algn="l"/>
            <a:r>
              <a:rPr sz="1500" b="0" i="0">
                <a:solidFill>
                  <a:srgbClr val="404040"/>
                </a:solidFill>
              </a:rPr>
              <a:t>Probleme bleiben liegen</a:t>
            </a:r>
          </a:p>
        </p:txBody>
      </p:sp>
      <p:sp>
        <p:nvSpPr>
          <p:cNvPr id="16" name="Rectangle 15"/>
          <p:cNvSpPr/>
          <p:nvPr/>
        </p:nvSpPr>
        <p:spPr>
          <a:xfrm>
            <a:off x="4206240" y="1417320"/>
            <a:ext cx="3566160" cy="868680"/>
          </a:xfrm>
          <a:prstGeom prst="rect">
            <a:avLst/>
          </a:prstGeom>
          <a:solidFill>
            <a:srgbClr val="3886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97680" y="1444752"/>
            <a:ext cx="3383280" cy="795528"/>
          </a:xfrm>
          <a:prstGeom prst="rect">
            <a:avLst/>
          </a:prstGeom>
          <a:noFill/>
        </p:spPr>
        <p:txBody>
          <a:bodyPr wrap="square">
            <a:spAutoFit/>
          </a:bodyPr>
          <a:lstStyle/>
          <a:p>
            <a:pPr algn="ctr"/>
            <a:r>
              <a:rPr sz="1700" b="1" i="0">
                <a:solidFill>
                  <a:srgbClr val="FFFFFF"/>
                </a:solidFill>
              </a:rPr>
              <a:t>Gesunde Balance</a:t>
            </a:r>
          </a:p>
        </p:txBody>
      </p:sp>
      <p:sp>
        <p:nvSpPr>
          <p:cNvPr id="18" name="Rectangle 17"/>
          <p:cNvSpPr/>
          <p:nvPr/>
        </p:nvSpPr>
        <p:spPr>
          <a:xfrm>
            <a:off x="4206240" y="2423160"/>
            <a:ext cx="3566160" cy="594360"/>
          </a:xfrm>
          <a:prstGeom prst="rect">
            <a:avLst/>
          </a:prstGeom>
          <a:solidFill>
            <a:srgbClr val="E7F3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97680" y="2496312"/>
            <a:ext cx="3383280" cy="457200"/>
          </a:xfrm>
          <a:prstGeom prst="rect">
            <a:avLst/>
          </a:prstGeom>
          <a:noFill/>
        </p:spPr>
        <p:txBody>
          <a:bodyPr wrap="square">
            <a:spAutoFit/>
          </a:bodyPr>
          <a:lstStyle/>
          <a:p>
            <a:pPr algn="l"/>
            <a:r>
              <a:rPr sz="1500" b="0" i="0">
                <a:solidFill>
                  <a:srgbClr val="404040"/>
                </a:solidFill>
              </a:rPr>
              <a:t>Eigenverantwortung im Rahmen</a:t>
            </a:r>
          </a:p>
        </p:txBody>
      </p:sp>
      <p:sp>
        <p:nvSpPr>
          <p:cNvPr id="20" name="Rectangle 19"/>
          <p:cNvSpPr/>
          <p:nvPr/>
        </p:nvSpPr>
        <p:spPr>
          <a:xfrm>
            <a:off x="4206240" y="3081528"/>
            <a:ext cx="3566160" cy="594360"/>
          </a:xfrm>
          <a:prstGeom prst="rect">
            <a:avLst/>
          </a:prstGeom>
          <a:solidFill>
            <a:srgbClr val="E7F3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97680" y="3154680"/>
            <a:ext cx="3383280" cy="457200"/>
          </a:xfrm>
          <a:prstGeom prst="rect">
            <a:avLst/>
          </a:prstGeom>
          <a:noFill/>
        </p:spPr>
        <p:txBody>
          <a:bodyPr wrap="square">
            <a:spAutoFit/>
          </a:bodyPr>
          <a:lstStyle/>
          <a:p>
            <a:pPr algn="l"/>
            <a:r>
              <a:rPr sz="1500" b="0" i="0">
                <a:solidFill>
                  <a:srgbClr val="404040"/>
                </a:solidFill>
              </a:rPr>
              <a:t>Motivation steigt</a:t>
            </a:r>
          </a:p>
        </p:txBody>
      </p:sp>
      <p:sp>
        <p:nvSpPr>
          <p:cNvPr id="22" name="Rectangle 21"/>
          <p:cNvSpPr/>
          <p:nvPr/>
        </p:nvSpPr>
        <p:spPr>
          <a:xfrm>
            <a:off x="4206240" y="3739896"/>
            <a:ext cx="3566160" cy="594360"/>
          </a:xfrm>
          <a:prstGeom prst="rect">
            <a:avLst/>
          </a:prstGeom>
          <a:solidFill>
            <a:srgbClr val="E7F3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7680" y="3813048"/>
            <a:ext cx="3383280" cy="457200"/>
          </a:xfrm>
          <a:prstGeom prst="rect">
            <a:avLst/>
          </a:prstGeom>
          <a:noFill/>
        </p:spPr>
        <p:txBody>
          <a:bodyPr wrap="square">
            <a:spAutoFit/>
          </a:bodyPr>
          <a:lstStyle/>
          <a:p>
            <a:pPr algn="l"/>
            <a:r>
              <a:rPr sz="1500" b="0" i="0">
                <a:solidFill>
                  <a:srgbClr val="404040"/>
                </a:solidFill>
              </a:rPr>
              <a:t>Probleme aktiv geloest</a:t>
            </a:r>
          </a:p>
        </p:txBody>
      </p:sp>
      <p:sp>
        <p:nvSpPr>
          <p:cNvPr id="24" name="Rectangle 23"/>
          <p:cNvSpPr/>
          <p:nvPr/>
        </p:nvSpPr>
        <p:spPr>
          <a:xfrm>
            <a:off x="4206240" y="4398264"/>
            <a:ext cx="3566160" cy="594360"/>
          </a:xfrm>
          <a:prstGeom prst="rect">
            <a:avLst/>
          </a:prstGeom>
          <a:solidFill>
            <a:srgbClr val="E7F3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97680" y="4471416"/>
            <a:ext cx="3383280" cy="457200"/>
          </a:xfrm>
          <a:prstGeom prst="rect">
            <a:avLst/>
          </a:prstGeom>
          <a:noFill/>
        </p:spPr>
        <p:txBody>
          <a:bodyPr wrap="square">
            <a:spAutoFit/>
          </a:bodyPr>
          <a:lstStyle/>
          <a:p>
            <a:pPr algn="l"/>
            <a:r>
              <a:rPr sz="1500" b="0" i="0">
                <a:solidFill>
                  <a:srgbClr val="404040"/>
                </a:solidFill>
              </a:rPr>
              <a:t>Koordination funktioniert</a:t>
            </a:r>
          </a:p>
        </p:txBody>
      </p:sp>
      <p:sp>
        <p:nvSpPr>
          <p:cNvPr id="26" name="Rectangle 25"/>
          <p:cNvSpPr/>
          <p:nvPr/>
        </p:nvSpPr>
        <p:spPr>
          <a:xfrm>
            <a:off x="8046720" y="1417320"/>
            <a:ext cx="3566160" cy="868680"/>
          </a:xfrm>
          <a:prstGeom prst="rect">
            <a:avLst/>
          </a:prstGeom>
          <a:solidFill>
            <a:srgbClr val="C55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38160" y="1444752"/>
            <a:ext cx="3383280" cy="795528"/>
          </a:xfrm>
          <a:prstGeom prst="rect">
            <a:avLst/>
          </a:prstGeom>
          <a:noFill/>
        </p:spPr>
        <p:txBody>
          <a:bodyPr wrap="square">
            <a:spAutoFit/>
          </a:bodyPr>
          <a:lstStyle/>
          <a:p>
            <a:pPr algn="ctr"/>
            <a:r>
              <a:rPr sz="1700" b="1" i="0">
                <a:solidFill>
                  <a:srgbClr val="FFFFFF"/>
                </a:solidFill>
              </a:rPr>
              <a:t>Grenzenlose Autonomie</a:t>
            </a:r>
          </a:p>
        </p:txBody>
      </p:sp>
      <p:sp>
        <p:nvSpPr>
          <p:cNvPr id="28" name="Rectangle 27"/>
          <p:cNvSpPr/>
          <p:nvPr/>
        </p:nvSpPr>
        <p:spPr>
          <a:xfrm>
            <a:off x="8046720" y="2423160"/>
            <a:ext cx="3566160" cy="594360"/>
          </a:xfrm>
          <a:prstGeom prst="rect">
            <a:avLst/>
          </a:prstGeom>
          <a:solidFill>
            <a:srgbClr val="FF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38160" y="2496312"/>
            <a:ext cx="3383280" cy="457200"/>
          </a:xfrm>
          <a:prstGeom prst="rect">
            <a:avLst/>
          </a:prstGeom>
          <a:noFill/>
        </p:spPr>
        <p:txBody>
          <a:bodyPr wrap="square">
            <a:spAutoFit/>
          </a:bodyPr>
          <a:lstStyle/>
          <a:p>
            <a:pPr algn="l"/>
            <a:r>
              <a:rPr sz="1500" b="0" i="0">
                <a:solidFill>
                  <a:srgbClr val="404040"/>
                </a:solidFill>
              </a:rPr>
              <a:t>Jedes Team macht sein Ding</a:t>
            </a:r>
          </a:p>
        </p:txBody>
      </p:sp>
      <p:sp>
        <p:nvSpPr>
          <p:cNvPr id="30" name="Rectangle 29"/>
          <p:cNvSpPr/>
          <p:nvPr/>
        </p:nvSpPr>
        <p:spPr>
          <a:xfrm>
            <a:off x="8046720" y="3081528"/>
            <a:ext cx="3566160" cy="594360"/>
          </a:xfrm>
          <a:prstGeom prst="rect">
            <a:avLst/>
          </a:prstGeom>
          <a:solidFill>
            <a:srgbClr val="FF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38160" y="3154680"/>
            <a:ext cx="3383280" cy="457200"/>
          </a:xfrm>
          <a:prstGeom prst="rect">
            <a:avLst/>
          </a:prstGeom>
          <a:noFill/>
        </p:spPr>
        <p:txBody>
          <a:bodyPr wrap="square">
            <a:spAutoFit/>
          </a:bodyPr>
          <a:lstStyle/>
          <a:p>
            <a:pPr algn="l"/>
            <a:r>
              <a:rPr sz="1500" b="0" i="0">
                <a:solidFill>
                  <a:srgbClr val="404040"/>
                </a:solidFill>
              </a:rPr>
              <a:t>Integrationsprobleme</a:t>
            </a:r>
          </a:p>
        </p:txBody>
      </p:sp>
      <p:sp>
        <p:nvSpPr>
          <p:cNvPr id="32" name="Rectangle 31"/>
          <p:cNvSpPr/>
          <p:nvPr/>
        </p:nvSpPr>
        <p:spPr>
          <a:xfrm>
            <a:off x="8046720" y="3739896"/>
            <a:ext cx="3566160" cy="594360"/>
          </a:xfrm>
          <a:prstGeom prst="rect">
            <a:avLst/>
          </a:prstGeom>
          <a:solidFill>
            <a:srgbClr val="FF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38160" y="3813048"/>
            <a:ext cx="3383280" cy="457200"/>
          </a:xfrm>
          <a:prstGeom prst="rect">
            <a:avLst/>
          </a:prstGeom>
          <a:noFill/>
        </p:spPr>
        <p:txBody>
          <a:bodyPr wrap="square">
            <a:spAutoFit/>
          </a:bodyPr>
          <a:lstStyle/>
          <a:p>
            <a:pPr algn="l"/>
            <a:r>
              <a:rPr sz="1500" b="0" i="0">
                <a:solidFill>
                  <a:srgbClr val="404040"/>
                </a:solidFill>
              </a:rPr>
              <a:t>Koordination bricht zusammen</a:t>
            </a:r>
          </a:p>
        </p:txBody>
      </p:sp>
      <p:sp>
        <p:nvSpPr>
          <p:cNvPr id="34" name="Rectangle 33"/>
          <p:cNvSpPr/>
          <p:nvPr/>
        </p:nvSpPr>
        <p:spPr>
          <a:xfrm>
            <a:off x="8046720" y="4398264"/>
            <a:ext cx="3566160" cy="594360"/>
          </a:xfrm>
          <a:prstGeom prst="rect">
            <a:avLst/>
          </a:prstGeom>
          <a:solidFill>
            <a:srgbClr val="FF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38160" y="4471416"/>
            <a:ext cx="3383280" cy="457200"/>
          </a:xfrm>
          <a:prstGeom prst="rect">
            <a:avLst/>
          </a:prstGeom>
          <a:noFill/>
        </p:spPr>
        <p:txBody>
          <a:bodyPr wrap="square">
            <a:spAutoFit/>
          </a:bodyPr>
          <a:lstStyle/>
          <a:p>
            <a:pPr algn="l"/>
            <a:r>
              <a:rPr sz="1500" b="0" i="0">
                <a:solidFill>
                  <a:srgbClr val="404040"/>
                </a:solidFill>
              </a:rPr>
              <a:t>Chaos entsteht</a:t>
            </a:r>
          </a:p>
        </p:txBody>
      </p:sp>
      <p:sp>
        <p:nvSpPr>
          <p:cNvPr id="36" name="TextBox 35"/>
          <p:cNvSpPr txBox="1"/>
          <p:nvPr/>
        </p:nvSpPr>
        <p:spPr>
          <a:xfrm>
            <a:off x="365760" y="5943600"/>
            <a:ext cx="11430000" cy="822960"/>
          </a:xfrm>
          <a:prstGeom prst="rect">
            <a:avLst/>
          </a:prstGeom>
          <a:noFill/>
        </p:spPr>
        <p:txBody>
          <a:bodyPr wrap="square">
            <a:spAutoFit/>
          </a:bodyPr>
          <a:lstStyle/>
          <a:p>
            <a:pPr algn="l"/>
            <a:r>
              <a:rPr sz="1200" b="0" i="1">
                <a:solidFill>
                  <a:srgbClr val="808080"/>
                </a:solidFill>
              </a:rPr>
              <a:t>Sprechertext: Weder blindes Ausfuehren noch grenzenlose Autonomie fuehrt zum Ziel. Die Balance ist: eigenverantwortliches Handeln im gemeinsamen Rahmen.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142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430000" cy="868680"/>
          </a:xfrm>
          <a:prstGeom prst="rect">
            <a:avLst/>
          </a:prstGeom>
          <a:noFill/>
        </p:spPr>
        <p:txBody>
          <a:bodyPr wrap="square">
            <a:spAutoFit/>
          </a:bodyPr>
          <a:lstStyle/>
          <a:p>
            <a:pPr algn="l"/>
            <a:r>
              <a:rPr sz="3200" b="1" i="0">
                <a:solidFill>
                  <a:srgbClr val="FFC000"/>
                </a:solidFill>
              </a:rPr>
              <a:t>Fazit</a:t>
            </a:r>
          </a:p>
        </p:txBody>
      </p:sp>
      <p:sp>
        <p:nvSpPr>
          <p:cNvPr id="5" name="Rectangle 4"/>
          <p:cNvSpPr/>
          <p:nvPr/>
        </p:nvSpPr>
        <p:spPr>
          <a:xfrm>
            <a:off x="457200" y="1371600"/>
            <a:ext cx="3566160" cy="2011680"/>
          </a:xfrm>
          <a:prstGeom prst="rect">
            <a:avLst/>
          </a:prstGeom>
          <a:solidFill>
            <a:srgbClr val="2E5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71600"/>
            <a:ext cx="3566160" cy="457200"/>
          </a:xfrm>
          <a:prstGeom prst="rect">
            <a:avLst/>
          </a:prstGeom>
          <a:solidFill>
            <a:srgbClr val="3886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99032"/>
            <a:ext cx="3383280" cy="402336"/>
          </a:xfrm>
          <a:prstGeom prst="rect">
            <a:avLst/>
          </a:prstGeom>
          <a:noFill/>
        </p:spPr>
        <p:txBody>
          <a:bodyPr wrap="square">
            <a:spAutoFit/>
          </a:bodyPr>
          <a:lstStyle/>
          <a:p>
            <a:pPr algn="ctr"/>
            <a:r>
              <a:rPr sz="1800" b="1" i="0">
                <a:solidFill>
                  <a:srgbClr val="1F3564"/>
                </a:solidFill>
              </a:rPr>
              <a:t>Im Team</a:t>
            </a:r>
          </a:p>
        </p:txBody>
      </p:sp>
      <p:sp>
        <p:nvSpPr>
          <p:cNvPr id="8" name="TextBox 7"/>
          <p:cNvSpPr txBox="1"/>
          <p:nvPr/>
        </p:nvSpPr>
        <p:spPr>
          <a:xfrm>
            <a:off x="594360" y="1920240"/>
            <a:ext cx="3291840" cy="1280160"/>
          </a:xfrm>
          <a:prstGeom prst="rect">
            <a:avLst/>
          </a:prstGeom>
          <a:noFill/>
        </p:spPr>
        <p:txBody>
          <a:bodyPr wrap="square">
            <a:spAutoFit/>
          </a:bodyPr>
          <a:lstStyle/>
          <a:p>
            <a:pPr algn="l"/>
            <a:r>
              <a:rPr sz="1600" b="0" i="0">
                <a:solidFill>
                  <a:srgbClr val="FFFFFF"/>
                </a:solidFill>
              </a:rPr>
              <a:t>Volle Autonomie ueber den Weg zum Ziel</a:t>
            </a:r>
          </a:p>
        </p:txBody>
      </p:sp>
      <p:sp>
        <p:nvSpPr>
          <p:cNvPr id="9" name="Rectangle 8"/>
          <p:cNvSpPr/>
          <p:nvPr/>
        </p:nvSpPr>
        <p:spPr>
          <a:xfrm>
            <a:off x="4297680" y="1371600"/>
            <a:ext cx="3566160" cy="2011680"/>
          </a:xfrm>
          <a:prstGeom prst="rect">
            <a:avLst/>
          </a:prstGeom>
          <a:solidFill>
            <a:srgbClr val="2E5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371600"/>
            <a:ext cx="3566160" cy="45720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1399032"/>
            <a:ext cx="3383280" cy="402336"/>
          </a:xfrm>
          <a:prstGeom prst="rect">
            <a:avLst/>
          </a:prstGeom>
          <a:noFill/>
        </p:spPr>
        <p:txBody>
          <a:bodyPr wrap="square">
            <a:spAutoFit/>
          </a:bodyPr>
          <a:lstStyle/>
          <a:p>
            <a:pPr algn="ctr"/>
            <a:r>
              <a:rPr sz="1800" b="1" i="0">
                <a:solidFill>
                  <a:srgbClr val="1F3564"/>
                </a:solidFill>
              </a:rPr>
              <a:t>Zwischen Teams</a:t>
            </a:r>
          </a:p>
        </p:txBody>
      </p:sp>
      <p:sp>
        <p:nvSpPr>
          <p:cNvPr id="12" name="TextBox 11"/>
          <p:cNvSpPr txBox="1"/>
          <p:nvPr/>
        </p:nvSpPr>
        <p:spPr>
          <a:xfrm>
            <a:off x="4434840" y="1920240"/>
            <a:ext cx="3291840" cy="1280160"/>
          </a:xfrm>
          <a:prstGeom prst="rect">
            <a:avLst/>
          </a:prstGeom>
          <a:noFill/>
        </p:spPr>
        <p:txBody>
          <a:bodyPr wrap="square">
            <a:spAutoFit/>
          </a:bodyPr>
          <a:lstStyle/>
          <a:p>
            <a:pPr algn="l"/>
            <a:r>
              <a:rPr sz="1600" b="0" i="0">
                <a:solidFill>
                  <a:srgbClr val="FFFFFF"/>
                </a:solidFill>
              </a:rPr>
              <a:t>Gemeinsame Standards als verbindliche Basis</a:t>
            </a:r>
          </a:p>
        </p:txBody>
      </p:sp>
      <p:sp>
        <p:nvSpPr>
          <p:cNvPr id="13" name="Rectangle 12"/>
          <p:cNvSpPr/>
          <p:nvPr/>
        </p:nvSpPr>
        <p:spPr>
          <a:xfrm>
            <a:off x="8138160" y="1371600"/>
            <a:ext cx="3566160" cy="2011680"/>
          </a:xfrm>
          <a:prstGeom prst="rect">
            <a:avLst/>
          </a:prstGeom>
          <a:solidFill>
            <a:srgbClr val="2E5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1371600"/>
            <a:ext cx="3566160" cy="457200"/>
          </a:xfrm>
          <a:prstGeom prst="rect">
            <a:avLst/>
          </a:prstGeom>
          <a:solidFill>
            <a:srgbClr val="BD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399032"/>
            <a:ext cx="3383280" cy="402336"/>
          </a:xfrm>
          <a:prstGeom prst="rect">
            <a:avLst/>
          </a:prstGeom>
          <a:noFill/>
        </p:spPr>
        <p:txBody>
          <a:bodyPr wrap="square">
            <a:spAutoFit/>
          </a:bodyPr>
          <a:lstStyle/>
          <a:p>
            <a:pPr algn="ctr"/>
            <a:r>
              <a:rPr sz="1800" b="1" i="0">
                <a:solidFill>
                  <a:srgbClr val="1F3564"/>
                </a:solidFill>
              </a:rPr>
              <a:t>In der Organisation</a:t>
            </a:r>
          </a:p>
        </p:txBody>
      </p:sp>
      <p:sp>
        <p:nvSpPr>
          <p:cNvPr id="16" name="TextBox 15"/>
          <p:cNvSpPr txBox="1"/>
          <p:nvPr/>
        </p:nvSpPr>
        <p:spPr>
          <a:xfrm>
            <a:off x="8275320" y="1920240"/>
            <a:ext cx="3291840" cy="1280160"/>
          </a:xfrm>
          <a:prstGeom prst="rect">
            <a:avLst/>
          </a:prstGeom>
          <a:noFill/>
        </p:spPr>
        <p:txBody>
          <a:bodyPr wrap="square">
            <a:spAutoFit/>
          </a:bodyPr>
          <a:lstStyle/>
          <a:p>
            <a:pPr algn="l"/>
            <a:r>
              <a:rPr sz="1600" b="0" i="0">
                <a:solidFill>
                  <a:srgbClr val="FFFFFF"/>
                </a:solidFill>
              </a:rPr>
              <a:t>Strategische Leitplanken zur Orientierung</a:t>
            </a:r>
          </a:p>
        </p:txBody>
      </p:sp>
      <p:sp>
        <p:nvSpPr>
          <p:cNvPr id="17" name="Rectangle 16"/>
          <p:cNvSpPr/>
          <p:nvPr/>
        </p:nvSpPr>
        <p:spPr>
          <a:xfrm>
            <a:off x="914400" y="3749039"/>
            <a:ext cx="10360152" cy="1371600"/>
          </a:xfrm>
          <a:prstGeom prst="rect">
            <a:avLst/>
          </a:prstGeom>
          <a:solidFill>
            <a:srgbClr val="2E5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3794760"/>
            <a:ext cx="10058400" cy="1280160"/>
          </a:xfrm>
          <a:prstGeom prst="rect">
            <a:avLst/>
          </a:prstGeom>
          <a:noFill/>
        </p:spPr>
        <p:txBody>
          <a:bodyPr wrap="square">
            <a:spAutoFit/>
          </a:bodyPr>
          <a:lstStyle/>
          <a:p>
            <a:pPr algn="ctr"/>
            <a:r>
              <a:rPr sz="2100" b="0" i="1">
                <a:solidFill>
                  <a:srgbClr val="FFC000"/>
                </a:solidFill>
              </a:rPr>
              <a:t>Das Team entscheidet nicht, wohin die Reise geht - aber wie es das Fahrzeug steuert.</a:t>
            </a:r>
          </a:p>
        </p:txBody>
      </p:sp>
      <p:sp>
        <p:nvSpPr>
          <p:cNvPr id="19" name="TextBox 18"/>
          <p:cNvSpPr txBox="1"/>
          <p:nvPr/>
        </p:nvSpPr>
        <p:spPr>
          <a:xfrm>
            <a:off x="365760" y="5303520"/>
            <a:ext cx="11430000" cy="548640"/>
          </a:xfrm>
          <a:prstGeom prst="rect">
            <a:avLst/>
          </a:prstGeom>
          <a:noFill/>
        </p:spPr>
        <p:txBody>
          <a:bodyPr wrap="square">
            <a:spAutoFit/>
          </a:bodyPr>
          <a:lstStyle/>
          <a:p>
            <a:pPr algn="ctr"/>
            <a:r>
              <a:rPr sz="1800" b="1" i="0">
                <a:solidFill>
                  <a:srgbClr val="FFFFFF"/>
                </a:solidFill>
              </a:rPr>
              <a:t>Selbstorganisation ist eine Superkraft - im richtigen Rahmen gelebt.</a:t>
            </a:r>
          </a:p>
        </p:txBody>
      </p:sp>
      <p:sp>
        <p:nvSpPr>
          <p:cNvPr id="20" name="TextBox 19"/>
          <p:cNvSpPr txBox="1"/>
          <p:nvPr/>
        </p:nvSpPr>
        <p:spPr>
          <a:xfrm>
            <a:off x="365760" y="5989320"/>
            <a:ext cx="11430000" cy="731520"/>
          </a:xfrm>
          <a:prstGeom prst="rect">
            <a:avLst/>
          </a:prstGeom>
          <a:noFill/>
        </p:spPr>
        <p:txBody>
          <a:bodyPr wrap="square">
            <a:spAutoFit/>
          </a:bodyPr>
          <a:lstStyle/>
          <a:p>
            <a:pPr algn="l"/>
            <a:r>
              <a:rPr sz="1200" b="0" i="1">
                <a:solidFill>
                  <a:srgbClr val="BDBDBD"/>
                </a:solidFill>
              </a:rPr>
              <a:t>Sprechertext: Selbstorganisation ist stark, wenn Verantwortungen klar sind. Teams brauchen Freiheit im Handeln - auf gemeinsamer verbindlicher Grundlage.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720"/>
            <a:ext cx="12188952" cy="6400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82880"/>
            <a:ext cx="11430000" cy="868680"/>
          </a:xfrm>
          <a:prstGeom prst="rect">
            <a:avLst/>
          </a:prstGeom>
          <a:noFill/>
        </p:spPr>
        <p:txBody>
          <a:bodyPr wrap="square">
            <a:spAutoFit/>
          </a:bodyPr>
          <a:lstStyle/>
          <a:p>
            <a:pPr algn="l"/>
            <a:r>
              <a:rPr sz="2800" b="1" i="0">
                <a:solidFill>
                  <a:srgbClr val="FFFFFF"/>
                </a:solidFill>
              </a:rPr>
              <a:t>Kernbotschaften - Das Wichtigste auf einen Blick</a:t>
            </a:r>
          </a:p>
        </p:txBody>
      </p:sp>
      <p:sp>
        <p:nvSpPr>
          <p:cNvPr id="6" name="Rectangle 5"/>
          <p:cNvSpPr/>
          <p:nvPr/>
        </p:nvSpPr>
        <p:spPr>
          <a:xfrm>
            <a:off x="365760" y="1417320"/>
            <a:ext cx="502920" cy="77724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508760"/>
            <a:ext cx="502920" cy="594360"/>
          </a:xfrm>
          <a:prstGeom prst="rect">
            <a:avLst/>
          </a:prstGeom>
          <a:noFill/>
        </p:spPr>
        <p:txBody>
          <a:bodyPr wrap="square">
            <a:spAutoFit/>
          </a:bodyPr>
          <a:lstStyle/>
          <a:p>
            <a:pPr algn="ctr"/>
            <a:r>
              <a:rPr sz="2000" b="1" i="0">
                <a:solidFill>
                  <a:srgbClr val="FFFFFF"/>
                </a:solidFill>
              </a:rPr>
              <a:t>1</a:t>
            </a:r>
          </a:p>
        </p:txBody>
      </p:sp>
      <p:sp>
        <p:nvSpPr>
          <p:cNvPr id="8" name="TextBox 7"/>
          <p:cNvSpPr txBox="1"/>
          <p:nvPr/>
        </p:nvSpPr>
        <p:spPr>
          <a:xfrm>
            <a:off x="1005840" y="1444752"/>
            <a:ext cx="10789920" cy="365760"/>
          </a:xfrm>
          <a:prstGeom prst="rect">
            <a:avLst/>
          </a:prstGeom>
          <a:noFill/>
        </p:spPr>
        <p:txBody>
          <a:bodyPr wrap="square">
            <a:spAutoFit/>
          </a:bodyPr>
          <a:lstStyle/>
          <a:p>
            <a:pPr algn="l"/>
            <a:r>
              <a:rPr sz="1600" b="1" i="0">
                <a:solidFill>
                  <a:srgbClr val="1F3564"/>
                </a:solidFill>
              </a:rPr>
              <a:t>Selbstorganisation ist nicht Mitbestimmung bei allem</a:t>
            </a:r>
          </a:p>
        </p:txBody>
      </p:sp>
      <p:sp>
        <p:nvSpPr>
          <p:cNvPr id="9" name="TextBox 8"/>
          <p:cNvSpPr txBox="1"/>
          <p:nvPr/>
        </p:nvSpPr>
        <p:spPr>
          <a:xfrm>
            <a:off x="1005840" y="1810512"/>
            <a:ext cx="10789920" cy="365760"/>
          </a:xfrm>
          <a:prstGeom prst="rect">
            <a:avLst/>
          </a:prstGeom>
          <a:noFill/>
        </p:spPr>
        <p:txBody>
          <a:bodyPr wrap="square">
            <a:spAutoFit/>
          </a:bodyPr>
          <a:lstStyle/>
          <a:p>
            <a:pPr algn="l"/>
            <a:r>
              <a:rPr sz="1400" b="0" i="0">
                <a:solidFill>
                  <a:srgbClr val="404040"/>
                </a:solidFill>
              </a:rPr>
              <a:t>Strategie, Priorisierung und Richtlinien liegen beim PO oder der Organisation.</a:t>
            </a:r>
          </a:p>
        </p:txBody>
      </p:sp>
      <p:sp>
        <p:nvSpPr>
          <p:cNvPr id="10" name="Rectangle 9"/>
          <p:cNvSpPr/>
          <p:nvPr/>
        </p:nvSpPr>
        <p:spPr>
          <a:xfrm>
            <a:off x="365760" y="2331720"/>
            <a:ext cx="502920" cy="77724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423160"/>
            <a:ext cx="502920" cy="594360"/>
          </a:xfrm>
          <a:prstGeom prst="rect">
            <a:avLst/>
          </a:prstGeom>
          <a:noFill/>
        </p:spPr>
        <p:txBody>
          <a:bodyPr wrap="square">
            <a:spAutoFit/>
          </a:bodyPr>
          <a:lstStyle/>
          <a:p>
            <a:pPr algn="ctr"/>
            <a:r>
              <a:rPr sz="2000" b="1" i="0">
                <a:solidFill>
                  <a:srgbClr val="FFFFFF"/>
                </a:solidFill>
              </a:rPr>
              <a:t>2</a:t>
            </a:r>
          </a:p>
        </p:txBody>
      </p:sp>
      <p:sp>
        <p:nvSpPr>
          <p:cNvPr id="12" name="TextBox 11"/>
          <p:cNvSpPr txBox="1"/>
          <p:nvPr/>
        </p:nvSpPr>
        <p:spPr>
          <a:xfrm>
            <a:off x="1005840" y="2359151"/>
            <a:ext cx="10789920" cy="365760"/>
          </a:xfrm>
          <a:prstGeom prst="rect">
            <a:avLst/>
          </a:prstGeom>
          <a:noFill/>
        </p:spPr>
        <p:txBody>
          <a:bodyPr wrap="square">
            <a:spAutoFit/>
          </a:bodyPr>
          <a:lstStyle/>
          <a:p>
            <a:pPr algn="l"/>
            <a:r>
              <a:rPr sz="1600" b="1" i="0">
                <a:solidFill>
                  <a:srgbClr val="1F3564"/>
                </a:solidFill>
              </a:rPr>
              <a:t>Autonomie ueber das WIE</a:t>
            </a:r>
          </a:p>
        </p:txBody>
      </p:sp>
      <p:sp>
        <p:nvSpPr>
          <p:cNvPr id="13" name="TextBox 12"/>
          <p:cNvSpPr txBox="1"/>
          <p:nvPr/>
        </p:nvSpPr>
        <p:spPr>
          <a:xfrm>
            <a:off x="1005840" y="2724912"/>
            <a:ext cx="10789920" cy="365760"/>
          </a:xfrm>
          <a:prstGeom prst="rect">
            <a:avLst/>
          </a:prstGeom>
          <a:noFill/>
        </p:spPr>
        <p:txBody>
          <a:bodyPr wrap="square">
            <a:spAutoFit/>
          </a:bodyPr>
          <a:lstStyle/>
          <a:p>
            <a:pPr algn="l"/>
            <a:r>
              <a:rPr sz="1400" b="0" i="0">
                <a:solidFill>
                  <a:srgbClr val="404040"/>
                </a:solidFill>
              </a:rPr>
              <a:t>Das Team entscheidet, wie es seine Arbeit organisiert - im definierten Rahmen.</a:t>
            </a:r>
          </a:p>
        </p:txBody>
      </p:sp>
      <p:sp>
        <p:nvSpPr>
          <p:cNvPr id="14" name="Rectangle 13"/>
          <p:cNvSpPr/>
          <p:nvPr/>
        </p:nvSpPr>
        <p:spPr>
          <a:xfrm>
            <a:off x="365760" y="3246120"/>
            <a:ext cx="502920" cy="77724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337560"/>
            <a:ext cx="502920" cy="594360"/>
          </a:xfrm>
          <a:prstGeom prst="rect">
            <a:avLst/>
          </a:prstGeom>
          <a:noFill/>
        </p:spPr>
        <p:txBody>
          <a:bodyPr wrap="square">
            <a:spAutoFit/>
          </a:bodyPr>
          <a:lstStyle/>
          <a:p>
            <a:pPr algn="ctr"/>
            <a:r>
              <a:rPr sz="2000" b="1" i="0">
                <a:solidFill>
                  <a:srgbClr val="FFFFFF"/>
                </a:solidFill>
              </a:rPr>
              <a:t>3</a:t>
            </a:r>
          </a:p>
        </p:txBody>
      </p:sp>
      <p:sp>
        <p:nvSpPr>
          <p:cNvPr id="16" name="TextBox 15"/>
          <p:cNvSpPr txBox="1"/>
          <p:nvPr/>
        </p:nvSpPr>
        <p:spPr>
          <a:xfrm>
            <a:off x="1005840" y="3273551"/>
            <a:ext cx="10789920" cy="365760"/>
          </a:xfrm>
          <a:prstGeom prst="rect">
            <a:avLst/>
          </a:prstGeom>
          <a:noFill/>
        </p:spPr>
        <p:txBody>
          <a:bodyPr wrap="square">
            <a:spAutoFit/>
          </a:bodyPr>
          <a:lstStyle/>
          <a:p>
            <a:pPr algn="l"/>
            <a:r>
              <a:rPr sz="1600" b="1" i="0">
                <a:solidFill>
                  <a:srgbClr val="1F3564"/>
                </a:solidFill>
              </a:rPr>
              <a:t>Skalierung braucht gemeinsame Standards</a:t>
            </a:r>
          </a:p>
        </p:txBody>
      </p:sp>
      <p:sp>
        <p:nvSpPr>
          <p:cNvPr id="17" name="TextBox 16"/>
          <p:cNvSpPr txBox="1"/>
          <p:nvPr/>
        </p:nvSpPr>
        <p:spPr>
          <a:xfrm>
            <a:off x="1005840" y="3639312"/>
            <a:ext cx="10789920" cy="365760"/>
          </a:xfrm>
          <a:prstGeom prst="rect">
            <a:avLst/>
          </a:prstGeom>
          <a:noFill/>
        </p:spPr>
        <p:txBody>
          <a:bodyPr wrap="square">
            <a:spAutoFit/>
          </a:bodyPr>
          <a:lstStyle/>
          <a:p>
            <a:pPr algn="l"/>
            <a:r>
              <a:rPr sz="1400" b="0" i="0">
                <a:solidFill>
                  <a:srgbClr val="404040"/>
                </a:solidFill>
              </a:rPr>
              <a:t>Tools, DoD, Architektur, Releases - einheitliche Regeln machen Integration moeglich.</a:t>
            </a:r>
          </a:p>
        </p:txBody>
      </p:sp>
      <p:sp>
        <p:nvSpPr>
          <p:cNvPr id="18" name="Rectangle 17"/>
          <p:cNvSpPr/>
          <p:nvPr/>
        </p:nvSpPr>
        <p:spPr>
          <a:xfrm>
            <a:off x="365760" y="4160520"/>
            <a:ext cx="502920" cy="77724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4251959"/>
            <a:ext cx="502920" cy="594360"/>
          </a:xfrm>
          <a:prstGeom prst="rect">
            <a:avLst/>
          </a:prstGeom>
          <a:noFill/>
        </p:spPr>
        <p:txBody>
          <a:bodyPr wrap="square">
            <a:spAutoFit/>
          </a:bodyPr>
          <a:lstStyle/>
          <a:p>
            <a:pPr algn="ctr"/>
            <a:r>
              <a:rPr sz="2000" b="1" i="0">
                <a:solidFill>
                  <a:srgbClr val="FFFFFF"/>
                </a:solidFill>
              </a:rPr>
              <a:t>4</a:t>
            </a:r>
          </a:p>
        </p:txBody>
      </p:sp>
      <p:sp>
        <p:nvSpPr>
          <p:cNvPr id="20" name="TextBox 19"/>
          <p:cNvSpPr txBox="1"/>
          <p:nvPr/>
        </p:nvSpPr>
        <p:spPr>
          <a:xfrm>
            <a:off x="1005840" y="4187952"/>
            <a:ext cx="10789920" cy="365760"/>
          </a:xfrm>
          <a:prstGeom prst="rect">
            <a:avLst/>
          </a:prstGeom>
          <a:noFill/>
        </p:spPr>
        <p:txBody>
          <a:bodyPr wrap="square">
            <a:spAutoFit/>
          </a:bodyPr>
          <a:lstStyle/>
          <a:p>
            <a:pPr algn="l"/>
            <a:r>
              <a:rPr sz="1600" b="1" i="0">
                <a:solidFill>
                  <a:srgbClr val="1F3564"/>
                </a:solidFill>
              </a:rPr>
              <a:t>Drei Ebenen der Selbstorganisation</a:t>
            </a:r>
          </a:p>
        </p:txBody>
      </p:sp>
      <p:sp>
        <p:nvSpPr>
          <p:cNvPr id="21" name="TextBox 20"/>
          <p:cNvSpPr txBox="1"/>
          <p:nvPr/>
        </p:nvSpPr>
        <p:spPr>
          <a:xfrm>
            <a:off x="1005840" y="4553712"/>
            <a:ext cx="10789920" cy="365760"/>
          </a:xfrm>
          <a:prstGeom prst="rect">
            <a:avLst/>
          </a:prstGeom>
          <a:noFill/>
        </p:spPr>
        <p:txBody>
          <a:bodyPr wrap="square">
            <a:spAutoFit/>
          </a:bodyPr>
          <a:lstStyle/>
          <a:p>
            <a:pPr algn="l"/>
            <a:r>
              <a:rPr sz="1400" b="0" i="0">
                <a:solidFill>
                  <a:srgbClr val="404040"/>
                </a:solidFill>
              </a:rPr>
              <a:t>Organisation &gt; uebergreifend &gt; Team: jede Ebene hat eigene Verantwortung.</a:t>
            </a:r>
          </a:p>
        </p:txBody>
      </p:sp>
      <p:sp>
        <p:nvSpPr>
          <p:cNvPr id="22" name="Rectangle 21"/>
          <p:cNvSpPr/>
          <p:nvPr/>
        </p:nvSpPr>
        <p:spPr>
          <a:xfrm>
            <a:off x="365760" y="5074920"/>
            <a:ext cx="502920" cy="77724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5166359"/>
            <a:ext cx="502920" cy="594360"/>
          </a:xfrm>
          <a:prstGeom prst="rect">
            <a:avLst/>
          </a:prstGeom>
          <a:noFill/>
        </p:spPr>
        <p:txBody>
          <a:bodyPr wrap="square">
            <a:spAutoFit/>
          </a:bodyPr>
          <a:lstStyle/>
          <a:p>
            <a:pPr algn="ctr"/>
            <a:r>
              <a:rPr sz="2000" b="1" i="0">
                <a:solidFill>
                  <a:srgbClr val="FFFFFF"/>
                </a:solidFill>
              </a:rPr>
              <a:t>5</a:t>
            </a:r>
          </a:p>
        </p:txBody>
      </p:sp>
      <p:sp>
        <p:nvSpPr>
          <p:cNvPr id="24" name="TextBox 23"/>
          <p:cNvSpPr txBox="1"/>
          <p:nvPr/>
        </p:nvSpPr>
        <p:spPr>
          <a:xfrm>
            <a:off x="1005840" y="5102352"/>
            <a:ext cx="10789920" cy="365760"/>
          </a:xfrm>
          <a:prstGeom prst="rect">
            <a:avLst/>
          </a:prstGeom>
          <a:noFill/>
        </p:spPr>
        <p:txBody>
          <a:bodyPr wrap="square">
            <a:spAutoFit/>
          </a:bodyPr>
          <a:lstStyle/>
          <a:p>
            <a:pPr algn="l"/>
            <a:r>
              <a:rPr sz="1600" b="1" i="0">
                <a:solidFill>
                  <a:srgbClr val="1F3564"/>
                </a:solidFill>
              </a:rPr>
              <a:t>Die Balance macht den Unterschied</a:t>
            </a:r>
          </a:p>
        </p:txBody>
      </p:sp>
      <p:sp>
        <p:nvSpPr>
          <p:cNvPr id="25" name="TextBox 24"/>
          <p:cNvSpPr txBox="1"/>
          <p:nvPr/>
        </p:nvSpPr>
        <p:spPr>
          <a:xfrm>
            <a:off x="1005840" y="5468112"/>
            <a:ext cx="10789920" cy="365760"/>
          </a:xfrm>
          <a:prstGeom prst="rect">
            <a:avLst/>
          </a:prstGeom>
          <a:noFill/>
        </p:spPr>
        <p:txBody>
          <a:bodyPr wrap="square">
            <a:spAutoFit/>
          </a:bodyPr>
          <a:lstStyle/>
          <a:p>
            <a:pPr algn="l"/>
            <a:r>
              <a:rPr sz="1400" b="0" i="0">
                <a:solidFill>
                  <a:srgbClr val="404040"/>
                </a:solidFill>
              </a:rPr>
              <a:t>Weder blindes Ausfuehren noch grenzenlose Autonomie - Eigenverantwortung im Rahmen.</a:t>
            </a:r>
          </a:p>
        </p:txBody>
      </p:sp>
      <p:sp>
        <p:nvSpPr>
          <p:cNvPr id="26" name="Rectangle 25"/>
          <p:cNvSpPr/>
          <p:nvPr/>
        </p:nvSpPr>
        <p:spPr>
          <a:xfrm>
            <a:off x="365760" y="6080760"/>
            <a:ext cx="11457432" cy="59436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6108192"/>
            <a:ext cx="11064240" cy="530352"/>
          </a:xfrm>
          <a:prstGeom prst="rect">
            <a:avLst/>
          </a:prstGeom>
          <a:noFill/>
        </p:spPr>
        <p:txBody>
          <a:bodyPr wrap="square">
            <a:spAutoFit/>
          </a:bodyPr>
          <a:lstStyle/>
          <a:p>
            <a:pPr algn="ctr"/>
            <a:r>
              <a:rPr sz="1600" b="1" i="1">
                <a:solidFill>
                  <a:srgbClr val="FFFFFF"/>
                </a:solidFill>
              </a:rPr>
              <a:t>Das Team steuert sein Fahrzeug selbst - aber alle fahren auf denselben Strassen.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